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003B82"/>
          </a:solidFill>
          <a:ln w="12700">
            <a:solidFill>
              <a:srgbClr val="003B8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>
                <a:alpha val="0"/>
              </a:srgbClr>
            </a:solidFill>
            <a:prstDash val="solid"/>
          </a:ln>
        </p:spPr>
      </p:sp>
      <p:pic>
        <p:nvPicPr>
          <p:cNvPr id="4" name="Image 0" descr="/mnt/data/ppt_extract/auto/ppt/media/image-1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837" y="420624"/>
            <a:ext cx="3454998" cy="1874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2487168"/>
            <a:ext cx="10287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b="1" dirty="0">
                <a:solidFill>
                  <a:srgbClr val="003B8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AUTO + HOME E2E Migration</a:t>
            </a:r>
            <a:endParaRPr lang="en-US" sz="3900" dirty="0"/>
          </a:p>
        </p:txBody>
      </p:sp>
      <p:sp>
        <p:nvSpPr>
          <p:cNvPr id="6" name="Text 3"/>
          <p:cNvSpPr/>
          <p:nvPr/>
        </p:nvSpPr>
        <p:spPr>
          <a:xfrm>
            <a:off x="1051560" y="3108960"/>
            <a:ext cx="10104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318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Selenium → Playwright Java | Integrated Executive Update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170432" y="3657600"/>
            <a:ext cx="9857232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readout: E2E completion, verified execution, resilience, flakiness evidence, environment risk and regression-readiness.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51560" y="4462272"/>
            <a:ext cx="2240280" cy="391729"/>
          </a:xfrm>
          <a:prstGeom prst="rect">
            <a:avLst/>
          </a:prstGeom>
          <a:solidFill>
            <a:srgbClr val="FFFFFF"/>
          </a:solidFill>
          <a:ln>
            <a:solidFill>
              <a:srgbClr val="D9E2EF">
                <a:alpha val="8500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318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PASS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1051560" y="4928616"/>
            <a:ext cx="2240280" cy="466344"/>
          </a:xfrm>
          <a:prstGeom prst="rect">
            <a:avLst/>
          </a:prstGeom>
          <a:solidFill>
            <a:srgbClr val="FFFFFF"/>
          </a:solidFill>
          <a:ln>
            <a:solidFill>
              <a:srgbClr val="D9E2EF">
                <a:alpha val="8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Latest verified HOME E2E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checkpoint: THANK YOU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3584448" y="4462272"/>
            <a:ext cx="2240280" cy="391729"/>
          </a:xfrm>
          <a:prstGeom prst="rect">
            <a:avLst/>
          </a:prstGeom>
          <a:solidFill>
            <a:srgbClr val="FFFFFF"/>
          </a:solidFill>
          <a:ln>
            <a:solidFill>
              <a:srgbClr val="D9E2EF">
                <a:alpha val="8500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3B8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PASS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3584448" y="4928616"/>
            <a:ext cx="2240280" cy="466344"/>
          </a:xfrm>
          <a:prstGeom prst="rect">
            <a:avLst/>
          </a:prstGeom>
          <a:solidFill>
            <a:srgbClr val="FFFFFF"/>
          </a:solidFill>
          <a:ln>
            <a:solidFill>
              <a:srgbClr val="D9E2EF">
                <a:alpha val="8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Latest verified Auto E2E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Terminal state: PURCHASE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126480" y="4462272"/>
            <a:ext cx="2240280" cy="391729"/>
          </a:xfrm>
          <a:prstGeom prst="rect">
            <a:avLst/>
          </a:prstGeom>
          <a:solidFill>
            <a:srgbClr val="FFFFFF"/>
          </a:solidFill>
          <a:ln>
            <a:solidFill>
              <a:srgbClr val="D9E2EF">
                <a:alpha val="8500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3B8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100%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6126480" y="4928616"/>
            <a:ext cx="2240280" cy="466344"/>
          </a:xfrm>
          <a:prstGeom prst="rect">
            <a:avLst/>
          </a:prstGeom>
          <a:solidFill>
            <a:srgbClr val="FFFFFF"/>
          </a:solidFill>
          <a:ln>
            <a:solidFill>
              <a:srgbClr val="D9E2EF">
                <a:alpha val="8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Playwright Java / defined path coverage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8659368" y="4462272"/>
            <a:ext cx="2240280" cy="391729"/>
          </a:xfrm>
          <a:prstGeom prst="rect">
            <a:avLst/>
          </a:prstGeom>
          <a:solidFill>
            <a:srgbClr val="FFFFFF"/>
          </a:solidFill>
          <a:ln>
            <a:solidFill>
              <a:srgbClr val="D9E2EF">
                <a:alpha val="8500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318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AUG 2026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8659368" y="4928616"/>
            <a:ext cx="2240280" cy="466344"/>
          </a:xfrm>
          <a:prstGeom prst="rect">
            <a:avLst/>
          </a:prstGeom>
          <a:solidFill>
            <a:srgbClr val="FFFFFF"/>
          </a:solidFill>
          <a:ln>
            <a:solidFill>
              <a:srgbClr val="D9E2EF">
                <a:alpha val="8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status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1463040" y="5760720"/>
            <a:ext cx="9281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i="1" dirty="0">
                <a:solidFill>
                  <a:srgbClr val="5C6A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Unified deck built from HOME and AUTO executive updates; all source information preserved and presented in a single visual system.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3B82"/>
          </a:solidFill>
          <a:ln w="12700">
            <a:solidFill>
              <a:srgbClr val="003B8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02552"/>
            <a:ext cx="12191695" cy="155448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93776" y="201168"/>
            <a:ext cx="7086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A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Farmers Insurance | Selenium → Playwright Java | Integrated Executive Update | August 2026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93776" y="457200"/>
            <a:ext cx="864108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350" b="1" dirty="0">
                <a:solidFill>
                  <a:srgbClr val="003B8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Latest Verified Status Snapshot</a:t>
            </a:r>
            <a:endParaRPr lang="en-US" sz="2350" dirty="0"/>
          </a:p>
        </p:txBody>
      </p:sp>
      <p:sp>
        <p:nvSpPr>
          <p:cNvPr id="6" name="Text 4"/>
          <p:cNvSpPr/>
          <p:nvPr/>
        </p:nvSpPr>
        <p:spPr>
          <a:xfrm>
            <a:off x="9464040" y="493776"/>
            <a:ext cx="786384" cy="246888"/>
          </a:xfrm>
          <a:prstGeom prst="rect">
            <a:avLst/>
          </a:prstGeom>
          <a:solidFill>
            <a:srgbClr val="B5122A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</a:t>
            </a:r>
            <a:endParaRPr lang="en-US" sz="950" dirty="0"/>
          </a:p>
        </p:txBody>
      </p:sp>
      <p:pic>
        <p:nvPicPr>
          <p:cNvPr id="7" name="Image 0" descr="/mnt/data/ppt_extract/auto/ppt/media/image-1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33888" y="238571"/>
            <a:ext cx="1143000" cy="6201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384280" y="6473952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40080" y="987552"/>
            <a:ext cx="108813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 migration program, two validated business paths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03504" y="1417320"/>
            <a:ext cx="5376672" cy="292608"/>
          </a:xfrm>
          <a:prstGeom prst="rect">
            <a:avLst/>
          </a:prstGeom>
          <a:solidFill>
            <a:srgbClr val="E31837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HOME E2E Migration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03504" y="1728216"/>
            <a:ext cx="5376672" cy="4215384"/>
          </a:xfrm>
          <a:prstGeom prst="rect">
            <a:avLst/>
          </a:prstGeom>
          <a:solidFill>
            <a:srgbClr val="FFFFFF"/>
          </a:solidFill>
          <a:ln>
            <a:solidFill>
              <a:srgbClr val="D9E2EF">
                <a:alpha val="90000"/>
              </a:srgbClr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53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Selenium → Playwright Java</a:t>
            </a:r>
            <a:endParaRPr lang="en-US" sz="1530" dirty="0"/>
          </a:p>
          <a:p>
            <a:pPr indent="0" marL="0">
              <a:buNone/>
            </a:pPr>
            <a:r>
              <a:rPr lang="en-US" sz="153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Readout: E2E completion, resilience, flakiness evidence and environment risk</a:t>
            </a:r>
            <a:endParaRPr lang="en-US" sz="1530" dirty="0"/>
          </a:p>
          <a:p>
            <a:pPr indent="0" marL="0">
              <a:buNone/>
            </a:pPr>
            <a:endParaRPr lang="en-US" sz="1530" dirty="0"/>
          </a:p>
          <a:p>
            <a:pPr indent="0" marL="0">
              <a:buNone/>
            </a:pPr>
            <a:r>
              <a:rPr lang="en-US" sz="153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 — Latest verified HOME E2E</a:t>
            </a:r>
            <a:endParaRPr lang="en-US" sz="1530" dirty="0"/>
          </a:p>
          <a:p>
            <a:pPr indent="0" marL="0">
              <a:buNone/>
            </a:pPr>
            <a:r>
              <a:rPr lang="en-US" sz="153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checkpoint: THANK YOU</a:t>
            </a:r>
            <a:endParaRPr lang="en-US" sz="1530" dirty="0"/>
          </a:p>
          <a:p>
            <a:pPr indent="0" marL="0">
              <a:buNone/>
            </a:pPr>
            <a:r>
              <a:rPr lang="en-US" sz="153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100% — Defined Happy Path coverage</a:t>
            </a:r>
            <a:endParaRPr lang="en-US" sz="1530" dirty="0"/>
          </a:p>
          <a:p>
            <a:pPr indent="0" marL="0">
              <a:buNone/>
            </a:pPr>
            <a:r>
              <a:rPr lang="en-US" sz="153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Playwright Java + TestNG only</a:t>
            </a:r>
            <a:endParaRPr lang="en-US" sz="1530" dirty="0"/>
          </a:p>
          <a:p>
            <a:pPr indent="0" marL="0">
              <a:buNone/>
            </a:pPr>
            <a:r>
              <a:rPr lang="en-US" sz="153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~99 sec — Latest verified runtime</a:t>
            </a:r>
            <a:endParaRPr lang="en-US" sz="1530" dirty="0"/>
          </a:p>
          <a:p>
            <a:pPr indent="0" marL="0">
              <a:buNone/>
            </a:pPr>
            <a:r>
              <a:rPr lang="en-US" sz="153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Gradle report: 1m 39.24s</a:t>
            </a:r>
            <a:endParaRPr lang="en-US" sz="1530" dirty="0"/>
          </a:p>
          <a:p>
            <a:pPr indent="0" marL="0">
              <a:buNone/>
            </a:pPr>
            <a:r>
              <a:rPr lang="en-US" sz="153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status | August 2026</a:t>
            </a:r>
            <a:endParaRPr lang="en-US" sz="1530" dirty="0"/>
          </a:p>
        </p:txBody>
      </p:sp>
      <p:sp>
        <p:nvSpPr>
          <p:cNvPr id="12" name="Text 9"/>
          <p:cNvSpPr/>
          <p:nvPr/>
        </p:nvSpPr>
        <p:spPr>
          <a:xfrm>
            <a:off x="6208776" y="1417320"/>
            <a:ext cx="5376672" cy="292608"/>
          </a:xfrm>
          <a:prstGeom prst="rect">
            <a:avLst/>
          </a:prstGeom>
          <a:solidFill>
            <a:srgbClr val="003B82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Auto BristolWest E2E Migration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208776" y="1728216"/>
            <a:ext cx="5376672" cy="4215384"/>
          </a:xfrm>
          <a:prstGeom prst="rect">
            <a:avLst/>
          </a:prstGeom>
          <a:solidFill>
            <a:srgbClr val="FFFFFF"/>
          </a:solidFill>
          <a:ln>
            <a:solidFill>
              <a:srgbClr val="D9E2EF">
                <a:alpha val="90000"/>
              </a:srgbClr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53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 E2E | Selenium → Playwright Java | Executive Update</a:t>
            </a:r>
            <a:endParaRPr lang="en-US" sz="1530" dirty="0"/>
          </a:p>
          <a:p>
            <a:pPr indent="0" marL="0">
              <a:buNone/>
            </a:pPr>
            <a:r>
              <a:rPr lang="en-US" sz="153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readout: verified execution, runtime evidence, recovery design and regression-readiness risk.</a:t>
            </a:r>
            <a:endParaRPr lang="en-US" sz="1530" dirty="0"/>
          </a:p>
          <a:p>
            <a:pPr indent="0" marL="0">
              <a:buNone/>
            </a:pPr>
            <a:endParaRPr lang="en-US" sz="1530" dirty="0"/>
          </a:p>
          <a:p>
            <a:pPr indent="0" marL="0">
              <a:buNone/>
            </a:pPr>
            <a:r>
              <a:rPr lang="en-US" sz="153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 — Latest verified Auto E2E</a:t>
            </a:r>
            <a:endParaRPr lang="en-US" sz="1530" dirty="0"/>
          </a:p>
          <a:p>
            <a:pPr indent="0" marL="0">
              <a:buNone/>
            </a:pPr>
            <a:r>
              <a:rPr lang="en-US" sz="153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100% — Playwright Java path</a:t>
            </a:r>
            <a:endParaRPr lang="en-US" sz="1530" dirty="0"/>
          </a:p>
          <a:p>
            <a:pPr indent="0" marL="0">
              <a:buNone/>
            </a:pPr>
            <a:r>
              <a:rPr lang="en-US" sz="153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10m 18s — Verified runtime</a:t>
            </a:r>
            <a:endParaRPr lang="en-US" sz="1530" dirty="0"/>
          </a:p>
          <a:p>
            <a:pPr indent="0" marL="0">
              <a:buNone/>
            </a:pPr>
            <a:r>
              <a:rPr lang="en-US" sz="153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— Copy-DOM checkpoints</a:t>
            </a:r>
            <a:endParaRPr lang="en-US" sz="1530" dirty="0"/>
          </a:p>
          <a:p>
            <a:pPr indent="0" marL="0">
              <a:buNone/>
            </a:pPr>
            <a:r>
              <a:rPr lang="en-US" sz="153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YES — Recovery triggered</a:t>
            </a:r>
            <a:endParaRPr lang="en-US" sz="1530" dirty="0"/>
          </a:p>
          <a:p>
            <a:pPr indent="0" marL="0">
              <a:buNone/>
            </a:pPr>
            <a:r>
              <a:rPr lang="en-US" sz="153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status | August 2026</a:t>
            </a:r>
            <a:endParaRPr lang="en-US" sz="153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3B82"/>
          </a:solidFill>
          <a:ln w="12700">
            <a:solidFill>
              <a:srgbClr val="003B8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02552"/>
            <a:ext cx="12191695" cy="155448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93776" y="201168"/>
            <a:ext cx="7086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A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Farmers Insurance | Selenium → Playwright Java | Integrated Executive Update | August 2026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93776" y="457200"/>
            <a:ext cx="864108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350" b="1" dirty="0">
                <a:solidFill>
                  <a:srgbClr val="003B8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E2E Migration Achievement</a:t>
            </a:r>
            <a:endParaRPr lang="en-US" sz="2350" dirty="0"/>
          </a:p>
        </p:txBody>
      </p:sp>
      <p:sp>
        <p:nvSpPr>
          <p:cNvPr id="6" name="Text 4"/>
          <p:cNvSpPr/>
          <p:nvPr/>
        </p:nvSpPr>
        <p:spPr>
          <a:xfrm>
            <a:off x="9464040" y="493776"/>
            <a:ext cx="786384" cy="246888"/>
          </a:xfrm>
          <a:prstGeom prst="rect">
            <a:avLst/>
          </a:prstGeom>
          <a:solidFill>
            <a:srgbClr val="B5122A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</a:t>
            </a:r>
            <a:endParaRPr lang="en-US" sz="950" dirty="0"/>
          </a:p>
        </p:txBody>
      </p:sp>
      <p:pic>
        <p:nvPicPr>
          <p:cNvPr id="7" name="Image 0" descr="/mnt/data/ppt_extract/auto/ppt/media/image-1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33888" y="238571"/>
            <a:ext cx="1143000" cy="6201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384280" y="6473952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58368" y="1024128"/>
            <a:ext cx="1078992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78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working end-to-end HOME scenario and a deterministic Auto BristolWest E2E path have both moved beyond method migration into business-flow validation.</a:t>
            </a:r>
            <a:endParaRPr lang="en-US" sz="1780" dirty="0"/>
          </a:p>
        </p:txBody>
      </p:sp>
      <p:sp>
        <p:nvSpPr>
          <p:cNvPr id="10" name="Text 7"/>
          <p:cNvSpPr/>
          <p:nvPr/>
        </p:nvSpPr>
        <p:spPr>
          <a:xfrm>
            <a:off x="749808" y="1783080"/>
            <a:ext cx="3364992" cy="499262"/>
          </a:xfrm>
          <a:prstGeom prst="rect">
            <a:avLst/>
          </a:prstGeom>
          <a:solidFill>
            <a:srgbClr val="FFFFFF"/>
          </a:solidFill>
          <a:ln>
            <a:solidFill>
              <a:srgbClr val="D9E2EF">
                <a:alpha val="8500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318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100%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749808" y="2377440"/>
            <a:ext cx="3364992" cy="594360"/>
          </a:xfrm>
          <a:prstGeom prst="rect">
            <a:avLst/>
          </a:prstGeom>
          <a:solidFill>
            <a:srgbClr val="FFFFFF"/>
          </a:solidFill>
          <a:ln>
            <a:solidFill>
              <a:srgbClr val="D9E2EF">
                <a:alpha val="8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 Playwright-only implementation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Selenium/WebDriver usage identified in the scenario source/dependency scan.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4416552" y="1783080"/>
            <a:ext cx="3364992" cy="499262"/>
          </a:xfrm>
          <a:prstGeom prst="rect">
            <a:avLst/>
          </a:prstGeom>
          <a:solidFill>
            <a:srgbClr val="FFFFFF"/>
          </a:solidFill>
          <a:ln>
            <a:solidFill>
              <a:srgbClr val="D9E2EF">
                <a:alpha val="8500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3B8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100%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4416552" y="2377440"/>
            <a:ext cx="3364992" cy="594360"/>
          </a:xfrm>
          <a:prstGeom prst="rect">
            <a:avLst/>
          </a:prstGeom>
          <a:solidFill>
            <a:srgbClr val="FFFFFF"/>
          </a:solidFill>
          <a:ln>
            <a:solidFill>
              <a:srgbClr val="D9E2EF">
                <a:alpha val="8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 defined path reached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Successful navigation through the full target path to THANK YOU.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8083296" y="1783080"/>
            <a:ext cx="3364992" cy="499262"/>
          </a:xfrm>
          <a:prstGeom prst="rect">
            <a:avLst/>
          </a:prstGeom>
          <a:solidFill>
            <a:srgbClr val="FFFFFF"/>
          </a:solidFill>
          <a:ln>
            <a:solidFill>
              <a:srgbClr val="D9E2EF">
                <a:alpha val="8500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318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PASS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8083296" y="2377440"/>
            <a:ext cx="3364992" cy="594360"/>
          </a:xfrm>
          <a:prstGeom prst="rect">
            <a:avLst/>
          </a:prstGeom>
          <a:solidFill>
            <a:srgbClr val="FFFFFF"/>
          </a:solidFill>
          <a:ln>
            <a:solidFill>
              <a:srgbClr val="D9E2EF">
                <a:alpha val="8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Latest execution result — HOME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Recovery-capable execution verified.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749808" y="3401568"/>
            <a:ext cx="3364992" cy="499262"/>
          </a:xfrm>
          <a:prstGeom prst="rect">
            <a:avLst/>
          </a:prstGeom>
          <a:solidFill>
            <a:srgbClr val="FFFFFF"/>
          </a:solidFill>
          <a:ln>
            <a:solidFill>
              <a:srgbClr val="D9E2EF">
                <a:alpha val="8500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3B8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 / 1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749808" y="3995928"/>
            <a:ext cx="3364992" cy="594360"/>
          </a:xfrm>
          <a:prstGeom prst="rect">
            <a:avLst/>
          </a:prstGeom>
          <a:solidFill>
            <a:srgbClr val="FFFFFF"/>
          </a:solidFill>
          <a:ln>
            <a:solidFill>
              <a:srgbClr val="D9E2EF">
                <a:alpha val="8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 test passed; 0 failures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Terminal success state: PURCHASE.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4416552" y="3401568"/>
            <a:ext cx="3364992" cy="499262"/>
          </a:xfrm>
          <a:prstGeom prst="rect">
            <a:avLst/>
          </a:prstGeom>
          <a:solidFill>
            <a:srgbClr val="FFFFFF"/>
          </a:solidFill>
          <a:ln>
            <a:solidFill>
              <a:srgbClr val="D9E2EF">
                <a:alpha val="8500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3B8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617.833s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4416552" y="3995928"/>
            <a:ext cx="3364992" cy="594360"/>
          </a:xfrm>
          <a:prstGeom prst="rect">
            <a:avLst/>
          </a:prstGeom>
          <a:solidFill>
            <a:srgbClr val="FFFFFF"/>
          </a:solidFill>
          <a:ln>
            <a:solidFill>
              <a:srgbClr val="D9E2EF">
                <a:alpha val="8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 XML-verified duration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Machine-readable evidence.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8083296" y="3401568"/>
            <a:ext cx="3364992" cy="499262"/>
          </a:xfrm>
          <a:prstGeom prst="rect">
            <a:avLst/>
          </a:prstGeom>
          <a:solidFill>
            <a:srgbClr val="FFFFFF"/>
          </a:solidFill>
          <a:ln>
            <a:solidFill>
              <a:srgbClr val="D9E2EF">
                <a:alpha val="8500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318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XML</a:t>
            </a:r>
            <a:endParaRPr lang="en-US" sz="2400" dirty="0"/>
          </a:p>
        </p:txBody>
      </p:sp>
      <p:sp>
        <p:nvSpPr>
          <p:cNvPr id="21" name="Text 18"/>
          <p:cNvSpPr/>
          <p:nvPr/>
        </p:nvSpPr>
        <p:spPr>
          <a:xfrm>
            <a:off x="8083296" y="3995928"/>
            <a:ext cx="3364992" cy="594360"/>
          </a:xfrm>
          <a:prstGeom prst="rect">
            <a:avLst/>
          </a:prstGeom>
          <a:solidFill>
            <a:srgbClr val="FFFFFF"/>
          </a:solidFill>
          <a:ln>
            <a:solidFill>
              <a:srgbClr val="D9E2EF">
                <a:alpha val="8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 evidence source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Runtime state transitions confirmed by checkpoints.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960120" y="5212080"/>
            <a:ext cx="102412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68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meaning: the migration has functional E2E proof points for both HOME and AUTO; the next step is repeatability evidence under frozen code and stable environment conditions.</a:t>
            </a:r>
            <a:endParaRPr lang="en-US" sz="16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3B82"/>
          </a:solidFill>
          <a:ln w="12700">
            <a:solidFill>
              <a:srgbClr val="003B8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02552"/>
            <a:ext cx="12191695" cy="155448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93776" y="201168"/>
            <a:ext cx="7086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A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Farmers Insurance | Selenium → Playwright Java | Integrated Executive Update | August 2026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93776" y="457200"/>
            <a:ext cx="864108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350" b="1" dirty="0">
                <a:solidFill>
                  <a:srgbClr val="003B8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Verified HOME Business Journey</a:t>
            </a:r>
            <a:endParaRPr lang="en-US" sz="2350" dirty="0"/>
          </a:p>
        </p:txBody>
      </p:sp>
      <p:sp>
        <p:nvSpPr>
          <p:cNvPr id="6" name="Text 4"/>
          <p:cNvSpPr/>
          <p:nvPr/>
        </p:nvSpPr>
        <p:spPr>
          <a:xfrm>
            <a:off x="9464040" y="493776"/>
            <a:ext cx="786384" cy="246888"/>
          </a:xfrm>
          <a:prstGeom prst="rect">
            <a:avLst/>
          </a:prstGeom>
          <a:solidFill>
            <a:srgbClr val="E31837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</a:t>
            </a:r>
            <a:endParaRPr lang="en-US" sz="950" dirty="0"/>
          </a:p>
        </p:txBody>
      </p:sp>
      <p:pic>
        <p:nvPicPr>
          <p:cNvPr id="7" name="Image 0" descr="/mnt/data/ppt_extract/auto/ppt/media/image-1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33888" y="238571"/>
            <a:ext cx="1143000" cy="6201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384280" y="6473952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85800" y="1024128"/>
            <a:ext cx="1078992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working end-to-end HOME scenario—not only migrated methods.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58368" y="1572768"/>
            <a:ext cx="2587752" cy="603504"/>
          </a:xfrm>
          <a:prstGeom prst="rect">
            <a:avLst/>
          </a:prstGeom>
          <a:solidFill>
            <a:srgbClr val="003B82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 LANDING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3447288" y="1572768"/>
            <a:ext cx="2587752" cy="603504"/>
          </a:xfrm>
          <a:prstGeom prst="rect">
            <a:avLst/>
          </a:prstGeom>
          <a:solidFill>
            <a:srgbClr val="003B82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 PROPERTY TYPE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6236208" y="1572768"/>
            <a:ext cx="2587752" cy="603504"/>
          </a:xfrm>
          <a:prstGeom prst="rect">
            <a:avLst/>
          </a:prstGeom>
          <a:solidFill>
            <a:srgbClr val="003B82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 ADDRESS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9025128" y="1572768"/>
            <a:ext cx="2587752" cy="603504"/>
          </a:xfrm>
          <a:prstGeom prst="rect">
            <a:avLst/>
          </a:prstGeom>
          <a:solidFill>
            <a:srgbClr val="003B82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 QUALITY GRADE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658368" y="2432304"/>
            <a:ext cx="2587752" cy="603504"/>
          </a:xfrm>
          <a:prstGeom prst="rect">
            <a:avLst/>
          </a:prstGeom>
          <a:solidFill>
            <a:srgbClr val="2F65B0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 PROPERTY SUMMARY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3447288" y="2432304"/>
            <a:ext cx="2587752" cy="603504"/>
          </a:xfrm>
          <a:prstGeom prst="rect">
            <a:avLst/>
          </a:prstGeom>
          <a:solidFill>
            <a:srgbClr val="2F65B0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 ADDITIONAL INFO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6236208" y="2432304"/>
            <a:ext cx="2587752" cy="603504"/>
          </a:xfrm>
          <a:prstGeom prst="rect">
            <a:avLst/>
          </a:prstGeom>
          <a:solidFill>
            <a:srgbClr val="2F65B0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 ABOUT YOU</a:t>
            </a:r>
            <a:endParaRPr lang="en-US" sz="1550" dirty="0"/>
          </a:p>
        </p:txBody>
      </p:sp>
      <p:sp>
        <p:nvSpPr>
          <p:cNvPr id="17" name="Text 14"/>
          <p:cNvSpPr/>
          <p:nvPr/>
        </p:nvSpPr>
        <p:spPr>
          <a:xfrm>
            <a:off x="9025128" y="2432304"/>
            <a:ext cx="2587752" cy="603504"/>
          </a:xfrm>
          <a:prstGeom prst="rect">
            <a:avLst/>
          </a:prstGeom>
          <a:solidFill>
            <a:srgbClr val="2F65B0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  CONTACT INFO</a:t>
            </a:r>
            <a:endParaRPr lang="en-US" sz="1550" dirty="0"/>
          </a:p>
        </p:txBody>
      </p:sp>
      <p:sp>
        <p:nvSpPr>
          <p:cNvPr id="18" name="Text 15"/>
          <p:cNvSpPr/>
          <p:nvPr/>
        </p:nvSpPr>
        <p:spPr>
          <a:xfrm>
            <a:off x="658368" y="3291840"/>
            <a:ext cx="2587752" cy="603504"/>
          </a:xfrm>
          <a:prstGeom prst="rect">
            <a:avLst/>
          </a:prstGeom>
          <a:solidFill>
            <a:srgbClr val="002E6D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  DWELLING COVERAGE</a:t>
            </a:r>
            <a:endParaRPr lang="en-US" sz="1550" dirty="0"/>
          </a:p>
        </p:txBody>
      </p:sp>
      <p:sp>
        <p:nvSpPr>
          <p:cNvPr id="19" name="Text 16"/>
          <p:cNvSpPr/>
          <p:nvPr/>
        </p:nvSpPr>
        <p:spPr>
          <a:xfrm>
            <a:off x="3447288" y="3291840"/>
            <a:ext cx="2587752" cy="603504"/>
          </a:xfrm>
          <a:prstGeom prst="rect">
            <a:avLst/>
          </a:prstGeom>
          <a:solidFill>
            <a:srgbClr val="002E6D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 HOME COVERAGES</a:t>
            </a:r>
            <a:endParaRPr lang="en-US" sz="1550" dirty="0"/>
          </a:p>
        </p:txBody>
      </p:sp>
      <p:sp>
        <p:nvSpPr>
          <p:cNvPr id="20" name="Text 17"/>
          <p:cNvSpPr/>
          <p:nvPr/>
        </p:nvSpPr>
        <p:spPr>
          <a:xfrm>
            <a:off x="6236208" y="3291840"/>
            <a:ext cx="2587752" cy="603504"/>
          </a:xfrm>
          <a:prstGeom prst="rect">
            <a:avLst/>
          </a:prstGeom>
          <a:solidFill>
            <a:srgbClr val="002E6D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 OPTIONAL COVERAGES</a:t>
            </a:r>
            <a:endParaRPr lang="en-US" sz="1550" dirty="0"/>
          </a:p>
        </p:txBody>
      </p:sp>
      <p:sp>
        <p:nvSpPr>
          <p:cNvPr id="21" name="Text 18"/>
          <p:cNvSpPr/>
          <p:nvPr/>
        </p:nvSpPr>
        <p:spPr>
          <a:xfrm>
            <a:off x="9025128" y="3291840"/>
            <a:ext cx="2587752" cy="603504"/>
          </a:xfrm>
          <a:prstGeom prst="rect">
            <a:avLst/>
          </a:prstGeom>
          <a:solidFill>
            <a:srgbClr val="E31837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  THANK YOU</a:t>
            </a:r>
            <a:endParaRPr lang="en-US" sz="1550" dirty="0"/>
          </a:p>
        </p:txBody>
      </p:sp>
      <p:sp>
        <p:nvSpPr>
          <p:cNvPr id="22" name="Text 19"/>
          <p:cNvSpPr/>
          <p:nvPr/>
        </p:nvSpPr>
        <p:spPr>
          <a:xfrm>
            <a:off x="960120" y="4645152"/>
            <a:ext cx="10287000" cy="292608"/>
          </a:xfrm>
          <a:prstGeom prst="rect">
            <a:avLst/>
          </a:prstGeom>
          <a:solidFill>
            <a:srgbClr val="E31837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Verified business journey — HOME validation result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960120" y="4956048"/>
            <a:ext cx="10287000" cy="585216"/>
          </a:xfrm>
          <a:prstGeom prst="rect">
            <a:avLst/>
          </a:prstGeom>
          <a:solidFill>
            <a:srgbClr val="FFFFFF"/>
          </a:solidFill>
          <a:ln>
            <a:solidFill>
              <a:srgbClr val="D9E2EF">
                <a:alpha val="90000"/>
              </a:srgbClr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Successful navigation through the full target path to THANK YOU. Recovery-capable execution was verified, and the scenario remains Playwright Java + TestNG only.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3B82"/>
          </a:solidFill>
          <a:ln w="12700">
            <a:solidFill>
              <a:srgbClr val="003B8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02552"/>
            <a:ext cx="12191695" cy="155448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93776" y="201168"/>
            <a:ext cx="7086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A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Farmers Insurance | Selenium → Playwright Java | Integrated Executive Update | August 2026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93776" y="457200"/>
            <a:ext cx="864108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350" b="1" dirty="0">
                <a:solidFill>
                  <a:srgbClr val="003B8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Functional Auto E2E Flow</a:t>
            </a:r>
            <a:endParaRPr lang="en-US" sz="2350" dirty="0"/>
          </a:p>
        </p:txBody>
      </p:sp>
      <p:sp>
        <p:nvSpPr>
          <p:cNvPr id="6" name="Text 4"/>
          <p:cNvSpPr/>
          <p:nvPr/>
        </p:nvSpPr>
        <p:spPr>
          <a:xfrm>
            <a:off x="9464040" y="493776"/>
            <a:ext cx="786384" cy="246888"/>
          </a:xfrm>
          <a:prstGeom prst="rect">
            <a:avLst/>
          </a:prstGeom>
          <a:solidFill>
            <a:srgbClr val="003B82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</a:t>
            </a:r>
            <a:endParaRPr lang="en-US" sz="950" dirty="0"/>
          </a:p>
        </p:txBody>
      </p:sp>
      <p:pic>
        <p:nvPicPr>
          <p:cNvPr id="7" name="Image 0" descr="/mnt/data/ppt_extract/auto/ppt/media/image-1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33888" y="238571"/>
            <a:ext cx="1143000" cy="6201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384280" y="6473952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85800" y="987552"/>
            <a:ext cx="1078992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General flow only — test data values are intentionally excluded.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530352" y="1581912"/>
            <a:ext cx="1481328" cy="914400"/>
          </a:xfrm>
          <a:prstGeom prst="rect">
            <a:avLst/>
          </a:prstGeom>
          <a:solidFill>
            <a:srgbClr val="003B82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60" dirty="0"/>
          </a:p>
          <a:p>
            <a:pPr algn="ctr" indent="0" marL="0">
              <a:buNone/>
            </a:pPr>
            <a:r>
              <a:rPr lang="en-US" sz="13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Landing</a:t>
            </a:r>
            <a:endParaRPr lang="en-US" sz="1360" dirty="0"/>
          </a:p>
          <a:p>
            <a:pPr algn="ctr" indent="0" marL="0">
              <a:buNone/>
            </a:pPr>
            <a:r>
              <a:rPr lang="en-US" sz="13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FastQuote entry</a:t>
            </a:r>
            <a:endParaRPr lang="en-US" sz="1360" dirty="0"/>
          </a:p>
        </p:txBody>
      </p:sp>
      <p:sp>
        <p:nvSpPr>
          <p:cNvPr id="11" name="Text 8"/>
          <p:cNvSpPr/>
          <p:nvPr/>
        </p:nvSpPr>
        <p:spPr>
          <a:xfrm>
            <a:off x="2121408" y="1581912"/>
            <a:ext cx="1481328" cy="914400"/>
          </a:xfrm>
          <a:prstGeom prst="rect">
            <a:avLst/>
          </a:prstGeom>
          <a:solidFill>
            <a:srgbClr val="003B82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60" dirty="0"/>
          </a:p>
          <a:p>
            <a:pPr algn="ctr" indent="0" marL="0">
              <a:buNone/>
            </a:pPr>
            <a:r>
              <a:rPr lang="en-US" sz="13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Quote Info</a:t>
            </a:r>
            <a:endParaRPr lang="en-US" sz="1360" dirty="0"/>
          </a:p>
          <a:p>
            <a:pPr algn="ctr" indent="0" marL="0">
              <a:buNone/>
            </a:pPr>
            <a:r>
              <a:rPr lang="en-US" sz="13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Quote capture</a:t>
            </a:r>
            <a:endParaRPr lang="en-US" sz="1360" dirty="0"/>
          </a:p>
        </p:txBody>
      </p:sp>
      <p:sp>
        <p:nvSpPr>
          <p:cNvPr id="12" name="Text 9"/>
          <p:cNvSpPr/>
          <p:nvPr/>
        </p:nvSpPr>
        <p:spPr>
          <a:xfrm>
            <a:off x="3712464" y="1581912"/>
            <a:ext cx="1481328" cy="914400"/>
          </a:xfrm>
          <a:prstGeom prst="rect">
            <a:avLst/>
          </a:prstGeom>
          <a:solidFill>
            <a:srgbClr val="003B82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60" dirty="0"/>
          </a:p>
          <a:p>
            <a:pPr algn="ctr" indent="0" marL="0">
              <a:buNone/>
            </a:pPr>
            <a:r>
              <a:rPr lang="en-US" sz="13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Address</a:t>
            </a:r>
            <a:endParaRPr lang="en-US" sz="1360" dirty="0"/>
          </a:p>
          <a:p>
            <a:pPr algn="ctr" indent="0" marL="0">
              <a:buNone/>
            </a:pPr>
            <a:r>
              <a:rPr lang="en-US" sz="13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Contact + check</a:t>
            </a:r>
            <a:endParaRPr lang="en-US" sz="1360" dirty="0"/>
          </a:p>
        </p:txBody>
      </p:sp>
      <p:sp>
        <p:nvSpPr>
          <p:cNvPr id="13" name="Text 10"/>
          <p:cNvSpPr/>
          <p:nvPr/>
        </p:nvSpPr>
        <p:spPr>
          <a:xfrm>
            <a:off x="5303520" y="1581912"/>
            <a:ext cx="1481328" cy="914400"/>
          </a:xfrm>
          <a:prstGeom prst="rect">
            <a:avLst/>
          </a:prstGeom>
          <a:solidFill>
            <a:srgbClr val="B46B00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360" dirty="0"/>
          </a:p>
          <a:p>
            <a:pPr algn="ctr" indent="0" marL="0">
              <a:buNone/>
            </a:pPr>
            <a:r>
              <a:rPr lang="en-US" sz="13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Recovery</a:t>
            </a:r>
            <a:endParaRPr lang="en-US" sz="1360" dirty="0"/>
          </a:p>
          <a:p>
            <a:pPr algn="ctr" indent="0" marL="0">
              <a:buNone/>
            </a:pPr>
            <a:r>
              <a:rPr lang="en-US" sz="13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KO/Inconvenience</a:t>
            </a:r>
            <a:endParaRPr lang="en-US" sz="1360" dirty="0"/>
          </a:p>
        </p:txBody>
      </p:sp>
      <p:sp>
        <p:nvSpPr>
          <p:cNvPr id="14" name="Text 11"/>
          <p:cNvSpPr/>
          <p:nvPr/>
        </p:nvSpPr>
        <p:spPr>
          <a:xfrm>
            <a:off x="6894576" y="1581912"/>
            <a:ext cx="1481328" cy="914400"/>
          </a:xfrm>
          <a:prstGeom prst="rect">
            <a:avLst/>
          </a:prstGeom>
          <a:solidFill>
            <a:srgbClr val="003B82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360" dirty="0"/>
          </a:p>
          <a:p>
            <a:pPr algn="ctr" indent="0" marL="0">
              <a:buNone/>
            </a:pPr>
            <a:r>
              <a:rPr lang="en-US" sz="13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</a:t>
            </a:r>
            <a:endParaRPr lang="en-US" sz="1360" dirty="0"/>
          </a:p>
          <a:p>
            <a:pPr algn="ctr" indent="0" marL="0">
              <a:buNone/>
            </a:pPr>
            <a:r>
              <a:rPr lang="en-US" sz="13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Vehicle + quote</a:t>
            </a:r>
            <a:endParaRPr lang="en-US" sz="1360" dirty="0"/>
          </a:p>
        </p:txBody>
      </p:sp>
      <p:sp>
        <p:nvSpPr>
          <p:cNvPr id="15" name="Text 12"/>
          <p:cNvSpPr/>
          <p:nvPr/>
        </p:nvSpPr>
        <p:spPr>
          <a:xfrm>
            <a:off x="8485632" y="1581912"/>
            <a:ext cx="1481328" cy="914400"/>
          </a:xfrm>
          <a:prstGeom prst="rect">
            <a:avLst/>
          </a:prstGeom>
          <a:solidFill>
            <a:srgbClr val="003B82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360" dirty="0"/>
          </a:p>
          <a:p>
            <a:pPr algn="ctr" indent="0" marL="0">
              <a:buNone/>
            </a:pPr>
            <a:r>
              <a:rPr lang="en-US" sz="13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Payment</a:t>
            </a:r>
            <a:endParaRPr lang="en-US" sz="1360" dirty="0"/>
          </a:p>
          <a:p>
            <a:pPr algn="ctr" indent="0" marL="0">
              <a:buNone/>
            </a:pPr>
            <a:r>
              <a:rPr lang="en-US" sz="13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Checkout</a:t>
            </a:r>
            <a:endParaRPr lang="en-US" sz="1360" dirty="0"/>
          </a:p>
        </p:txBody>
      </p:sp>
      <p:sp>
        <p:nvSpPr>
          <p:cNvPr id="16" name="Text 13"/>
          <p:cNvSpPr/>
          <p:nvPr/>
        </p:nvSpPr>
        <p:spPr>
          <a:xfrm>
            <a:off x="10076688" y="1581912"/>
            <a:ext cx="1481328" cy="914400"/>
          </a:xfrm>
          <a:prstGeom prst="rect">
            <a:avLst/>
          </a:prstGeom>
          <a:solidFill>
            <a:srgbClr val="E31837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1360" dirty="0"/>
          </a:p>
          <a:p>
            <a:pPr algn="ctr" indent="0" marL="0">
              <a:buNone/>
            </a:pPr>
            <a:r>
              <a:rPr lang="en-US" sz="13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Success</a:t>
            </a:r>
            <a:endParaRPr lang="en-US" sz="1360" dirty="0"/>
          </a:p>
          <a:p>
            <a:pPr algn="ctr" indent="0" marL="0">
              <a:buNone/>
            </a:pPr>
            <a:r>
              <a:rPr lang="en-US" sz="13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Purchase state</a:t>
            </a:r>
            <a:endParaRPr lang="en-US" sz="1360" dirty="0"/>
          </a:p>
        </p:txBody>
      </p:sp>
      <p:sp>
        <p:nvSpPr>
          <p:cNvPr id="17" name="Text 14"/>
          <p:cNvSpPr/>
          <p:nvPr/>
        </p:nvSpPr>
        <p:spPr>
          <a:xfrm>
            <a:off x="749808" y="2889504"/>
            <a:ext cx="10744200" cy="292608"/>
          </a:xfrm>
          <a:prstGeom prst="rect">
            <a:avLst/>
          </a:prstGeom>
          <a:solidFill>
            <a:srgbClr val="003B82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State-based execution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749808" y="3200400"/>
            <a:ext cx="10744200" cy="1655064"/>
          </a:xfrm>
          <a:prstGeom prst="rect">
            <a:avLst/>
          </a:prstGeom>
          <a:solidFill>
            <a:srgbClr val="FFFFFF"/>
          </a:solidFill>
          <a:ln>
            <a:solidFill>
              <a:srgbClr val="D9E2EF">
                <a:alpha val="90000"/>
              </a:srgbClr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State-based execution validates the actual page rendered after each action rather than assuming a fixed legacy path.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If the application routes to KnockOut or Inconvenience, the automation persists quote context and invokes recovery.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If the application uses the newer unified checkout, the flow adapts to the actual payment page contract.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Final validation confirms PURCHASE_SUCCESS through multi-signal success detection.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914400" y="5303520"/>
            <a:ext cx="1037844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72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Result: The deterministic Auto scenario completed E2E and reached the purchase-success terminal state.</a:t>
            </a:r>
            <a:endParaRPr lang="en-US" sz="17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3B82"/>
          </a:solidFill>
          <a:ln w="12700">
            <a:solidFill>
              <a:srgbClr val="003B8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02552"/>
            <a:ext cx="12191695" cy="155448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93776" y="201168"/>
            <a:ext cx="7086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A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Farmers Insurance | Selenium → Playwright Java | Integrated Executive Update | August 2026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93776" y="457200"/>
            <a:ext cx="864108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350" b="1" dirty="0">
                <a:solidFill>
                  <a:srgbClr val="003B8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Verified Execution Evidence</a:t>
            </a:r>
            <a:endParaRPr lang="en-US" sz="2350" dirty="0"/>
          </a:p>
        </p:txBody>
      </p:sp>
      <p:sp>
        <p:nvSpPr>
          <p:cNvPr id="6" name="Text 4"/>
          <p:cNvSpPr/>
          <p:nvPr/>
        </p:nvSpPr>
        <p:spPr>
          <a:xfrm>
            <a:off x="9464040" y="493776"/>
            <a:ext cx="786384" cy="246888"/>
          </a:xfrm>
          <a:prstGeom prst="rect">
            <a:avLst/>
          </a:prstGeom>
          <a:solidFill>
            <a:srgbClr val="003B82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</a:t>
            </a:r>
            <a:endParaRPr lang="en-US" sz="950" dirty="0"/>
          </a:p>
        </p:txBody>
      </p:sp>
      <p:pic>
        <p:nvPicPr>
          <p:cNvPr id="7" name="Image 0" descr="/mnt/data/ppt_extract/auto/ppt/media/image-1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33888" y="238571"/>
            <a:ext cx="1143000" cy="6201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384280" y="6473952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85800" y="987552"/>
            <a:ext cx="1078992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deterministic Auto BristolWest E2E reached the terminal business state.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86384" y="1627632"/>
            <a:ext cx="2011680" cy="376367"/>
          </a:xfrm>
          <a:prstGeom prst="rect">
            <a:avLst/>
          </a:prstGeom>
          <a:solidFill>
            <a:srgbClr val="FFFFFF"/>
          </a:solidFill>
          <a:ln>
            <a:solidFill>
              <a:srgbClr val="D9E2EF">
                <a:alpha val="8500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3B8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 / 1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786384" y="2075688"/>
            <a:ext cx="2011680" cy="448056"/>
          </a:xfrm>
          <a:prstGeom prst="rect">
            <a:avLst/>
          </a:prstGeom>
          <a:solidFill>
            <a:srgbClr val="FFFFFF"/>
          </a:solidFill>
          <a:ln>
            <a:solidFill>
              <a:srgbClr val="D9E2EF">
                <a:alpha val="8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passed; 0 failures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3017520" y="1627632"/>
            <a:ext cx="2011680" cy="376367"/>
          </a:xfrm>
          <a:prstGeom prst="rect">
            <a:avLst/>
          </a:prstGeom>
          <a:solidFill>
            <a:srgbClr val="FFFFFF"/>
          </a:solidFill>
          <a:ln>
            <a:solidFill>
              <a:srgbClr val="D9E2EF">
                <a:alpha val="8500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3B8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617.833s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3017520" y="2075688"/>
            <a:ext cx="2011680" cy="448056"/>
          </a:xfrm>
          <a:prstGeom prst="rect">
            <a:avLst/>
          </a:prstGeom>
          <a:solidFill>
            <a:srgbClr val="FFFFFF"/>
          </a:solidFill>
          <a:ln>
            <a:solidFill>
              <a:srgbClr val="D9E2EF">
                <a:alpha val="8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XML-verified duration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5248656" y="1627632"/>
            <a:ext cx="2011680" cy="376367"/>
          </a:xfrm>
          <a:prstGeom prst="rect">
            <a:avLst/>
          </a:prstGeom>
          <a:solidFill>
            <a:srgbClr val="FFFFFF"/>
          </a:solidFill>
          <a:ln>
            <a:solidFill>
              <a:srgbClr val="D9E2EF">
                <a:alpha val="8500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318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PURCHASE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5248656" y="2075688"/>
            <a:ext cx="2011680" cy="448056"/>
          </a:xfrm>
          <a:prstGeom prst="rect">
            <a:avLst/>
          </a:prstGeom>
          <a:solidFill>
            <a:srgbClr val="FFFFFF"/>
          </a:solidFill>
          <a:ln>
            <a:solidFill>
              <a:srgbClr val="D9E2EF">
                <a:alpha val="8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Terminal success state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7479792" y="1627632"/>
            <a:ext cx="2011680" cy="376367"/>
          </a:xfrm>
          <a:prstGeom prst="rect">
            <a:avLst/>
          </a:prstGeom>
          <a:solidFill>
            <a:srgbClr val="FFFFFF"/>
          </a:solidFill>
          <a:ln>
            <a:solidFill>
              <a:srgbClr val="D9E2EF">
                <a:alpha val="8500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3B8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XML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7479792" y="2075688"/>
            <a:ext cx="2011680" cy="448056"/>
          </a:xfrm>
          <a:prstGeom prst="rect">
            <a:avLst/>
          </a:prstGeom>
          <a:solidFill>
            <a:srgbClr val="FFFFFF"/>
          </a:solidFill>
          <a:ln>
            <a:solidFill>
              <a:srgbClr val="D9E2EF">
                <a:alpha val="8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Machine-readable evidence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9710928" y="1627632"/>
            <a:ext cx="1691640" cy="376367"/>
          </a:xfrm>
          <a:prstGeom prst="rect">
            <a:avLst/>
          </a:prstGeom>
          <a:solidFill>
            <a:srgbClr val="FFFFFF"/>
          </a:solidFill>
          <a:ln>
            <a:solidFill>
              <a:srgbClr val="D9E2EF">
                <a:alpha val="8500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46B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PASS #2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9710928" y="2075688"/>
            <a:ext cx="1691640" cy="448056"/>
          </a:xfrm>
          <a:prstGeom prst="rect">
            <a:avLst/>
          </a:prstGeom>
          <a:solidFill>
            <a:srgbClr val="FFFFFF"/>
          </a:solidFill>
          <a:ln>
            <a:solidFill>
              <a:srgbClr val="D9E2EF">
                <a:alpha val="8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Referenced; second XML not accessible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1005840" y="2999232"/>
            <a:ext cx="10222992" cy="292608"/>
          </a:xfrm>
          <a:prstGeom prst="rect">
            <a:avLst/>
          </a:prstGeom>
          <a:solidFill>
            <a:srgbClr val="003B82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Evidence sources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005840" y="3310128"/>
            <a:ext cx="10222992" cy="1938528"/>
          </a:xfrm>
          <a:prstGeom prst="rect">
            <a:avLst/>
          </a:prstGeom>
          <a:solidFill>
            <a:srgbClr val="FFFFFF"/>
          </a:solidFill>
          <a:ln>
            <a:solidFill>
              <a:srgbClr val="D9E2EF">
                <a:alpha val="90000"/>
              </a:srgbClr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TestNG XML report: 1 test passed, 0 failures, 0 errors.</a:t>
            </a:r>
            <a:endParaRPr lang="en-US" sz="1620" dirty="0"/>
          </a:p>
          <a:p>
            <a:pPr indent="0" marL="0">
              <a:buNone/>
            </a:pPr>
            <a:r>
              <a:rPr lang="en-US" sz="162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Copy-DOM artifacts captured HTML snapshots across key checkpoints.</a:t>
            </a:r>
            <a:endParaRPr lang="en-US" sz="1620" dirty="0"/>
          </a:p>
          <a:p>
            <a:pPr indent="0" marL="0">
              <a:buNone/>
            </a:pPr>
            <a:r>
              <a:rPr lang="en-US" sz="162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Checkpoint logging confirms purchase success and runtime state transitions.</a:t>
            </a:r>
            <a:endParaRPr lang="en-US" sz="1620" dirty="0"/>
          </a:p>
          <a:p>
            <a:pPr indent="0" marL="0">
              <a:buNone/>
            </a:pPr>
            <a:r>
              <a:rPr lang="en-US" sz="162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Recovery was triggered after a post-payment Inconvenience interruption and completed via Try Again handling.</a:t>
            </a:r>
            <a:endParaRPr lang="en-US" sz="1620" dirty="0"/>
          </a:p>
          <a:p>
            <a:pPr indent="0" marL="0">
              <a:buNone/>
            </a:pPr>
            <a:r>
              <a:rPr lang="en-US" sz="162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PASS #2 is referenced in checkpoints, but the second XML artifact was not accessible.</a:t>
            </a:r>
            <a:endParaRPr lang="en-US" sz="16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3B82"/>
          </a:solidFill>
          <a:ln w="12700">
            <a:solidFill>
              <a:srgbClr val="003B8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02552"/>
            <a:ext cx="12191695" cy="155448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93776" y="201168"/>
            <a:ext cx="7086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A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Farmers Insurance | Selenium → Playwright Java | Integrated Executive Update | August 2026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93776" y="457200"/>
            <a:ext cx="864108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350" b="1" dirty="0">
                <a:solidFill>
                  <a:srgbClr val="003B8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Playwright Java Implementation Pattern</a:t>
            </a:r>
            <a:endParaRPr lang="en-US" sz="2350" dirty="0"/>
          </a:p>
        </p:txBody>
      </p:sp>
      <p:sp>
        <p:nvSpPr>
          <p:cNvPr id="6" name="Text 4"/>
          <p:cNvSpPr/>
          <p:nvPr/>
        </p:nvSpPr>
        <p:spPr>
          <a:xfrm>
            <a:off x="9464040" y="493776"/>
            <a:ext cx="786384" cy="246888"/>
          </a:xfrm>
          <a:prstGeom prst="rect">
            <a:avLst/>
          </a:prstGeom>
          <a:solidFill>
            <a:srgbClr val="B5122A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</a:t>
            </a:r>
            <a:endParaRPr lang="en-US" sz="950" dirty="0"/>
          </a:p>
        </p:txBody>
      </p:sp>
      <p:pic>
        <p:nvPicPr>
          <p:cNvPr id="7" name="Image 0" descr="/mnt/data/ppt_extract/auto/ppt/media/image-1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33888" y="238571"/>
            <a:ext cx="1143000" cy="6201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384280" y="6473952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85800" y="969264"/>
            <a:ext cx="1078992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Modern browser automation plus state-aware diagnostics and recovery.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566928" y="1572768"/>
            <a:ext cx="2029968" cy="292608"/>
          </a:xfrm>
          <a:prstGeom prst="rect">
            <a:avLst/>
          </a:prstGeom>
          <a:solidFill>
            <a:srgbClr val="003B82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Lifecycle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66928" y="1883664"/>
            <a:ext cx="2029968" cy="1865376"/>
          </a:xfrm>
          <a:prstGeom prst="rect">
            <a:avLst/>
          </a:prstGeom>
          <a:solidFill>
            <a:srgbClr val="FFFFFF"/>
          </a:solidFill>
          <a:ln>
            <a:solidFill>
              <a:srgbClr val="D9E2EF">
                <a:alpha val="90000"/>
              </a:srgbClr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Playwright.create()</a:t>
            </a:r>
            <a:endParaRPr lang="en-US" sz="1380" dirty="0"/>
          </a:p>
          <a:p>
            <a:pPr indent="0" marL="0">
              <a:buNone/>
            </a:pPr>
            <a:r>
              <a:rPr lang="en-US" sz="138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chromium().launch()</a:t>
            </a:r>
            <a:endParaRPr lang="en-US" sz="1380" dirty="0"/>
          </a:p>
          <a:p>
            <a:pPr indent="0" marL="0">
              <a:buNone/>
            </a:pPr>
            <a:r>
              <a:rPr lang="en-US" sz="138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newContext()</a:t>
            </a:r>
            <a:endParaRPr lang="en-US" sz="1380" dirty="0"/>
          </a:p>
          <a:p>
            <a:pPr indent="0" marL="0">
              <a:buNone/>
            </a:pPr>
            <a:r>
              <a:rPr lang="en-US" sz="138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newPage()</a:t>
            </a:r>
            <a:endParaRPr lang="en-US" sz="1380" dirty="0"/>
          </a:p>
        </p:txBody>
      </p:sp>
      <p:sp>
        <p:nvSpPr>
          <p:cNvPr id="12" name="Text 9"/>
          <p:cNvSpPr/>
          <p:nvPr/>
        </p:nvSpPr>
        <p:spPr>
          <a:xfrm>
            <a:off x="2852928" y="1572768"/>
            <a:ext cx="2029968" cy="292608"/>
          </a:xfrm>
          <a:prstGeom prst="rect">
            <a:avLst/>
          </a:prstGeom>
          <a:solidFill>
            <a:srgbClr val="E31837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Locators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2852928" y="1883664"/>
            <a:ext cx="2029968" cy="1865376"/>
          </a:xfrm>
          <a:prstGeom prst="rect">
            <a:avLst/>
          </a:prstGeom>
          <a:solidFill>
            <a:srgbClr val="FFFFFF"/>
          </a:solidFill>
          <a:ln>
            <a:solidFill>
              <a:srgbClr val="D9E2EF">
                <a:alpha val="90000"/>
              </a:srgbClr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getByRole()</a:t>
            </a:r>
            <a:endParaRPr lang="en-US" sz="1380" dirty="0"/>
          </a:p>
          <a:p>
            <a:pPr indent="0" marL="0">
              <a:buNone/>
            </a:pPr>
            <a:r>
              <a:rPr lang="en-US" sz="138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getByLabel()</a:t>
            </a:r>
            <a:endParaRPr lang="en-US" sz="1380" dirty="0"/>
          </a:p>
          <a:p>
            <a:pPr indent="0" marL="0">
              <a:buNone/>
            </a:pPr>
            <a:r>
              <a:rPr lang="en-US" sz="138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getByText()</a:t>
            </a:r>
            <a:endParaRPr lang="en-US" sz="1380" dirty="0"/>
          </a:p>
          <a:p>
            <a:pPr indent="0" marL="0">
              <a:buNone/>
            </a:pPr>
            <a:r>
              <a:rPr lang="en-US" sz="138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locator() / filter()</a:t>
            </a:r>
            <a:endParaRPr lang="en-US" sz="1380" dirty="0"/>
          </a:p>
        </p:txBody>
      </p:sp>
      <p:sp>
        <p:nvSpPr>
          <p:cNvPr id="14" name="Text 11"/>
          <p:cNvSpPr/>
          <p:nvPr/>
        </p:nvSpPr>
        <p:spPr>
          <a:xfrm>
            <a:off x="5138928" y="1572768"/>
            <a:ext cx="2029968" cy="292608"/>
          </a:xfrm>
          <a:prstGeom prst="rect">
            <a:avLst/>
          </a:prstGeom>
          <a:solidFill>
            <a:srgbClr val="003B82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Interaction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5138928" y="1883664"/>
            <a:ext cx="2029968" cy="1865376"/>
          </a:xfrm>
          <a:prstGeom prst="rect">
            <a:avLst/>
          </a:prstGeom>
          <a:solidFill>
            <a:srgbClr val="FFFFFF"/>
          </a:solidFill>
          <a:ln>
            <a:solidFill>
              <a:srgbClr val="D9E2EF">
                <a:alpha val="90000"/>
              </a:srgbClr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click()</a:t>
            </a:r>
            <a:endParaRPr lang="en-US" sz="1380" dirty="0"/>
          </a:p>
          <a:p>
            <a:pPr indent="0" marL="0">
              <a:buNone/>
            </a:pPr>
            <a:r>
              <a:rPr lang="en-US" sz="138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fill()</a:t>
            </a:r>
            <a:endParaRPr lang="en-US" sz="1380" dirty="0"/>
          </a:p>
          <a:p>
            <a:pPr indent="0" marL="0">
              <a:buNone/>
            </a:pPr>
            <a:r>
              <a:rPr lang="en-US" sz="138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check()</a:t>
            </a:r>
            <a:endParaRPr lang="en-US" sz="1380" dirty="0"/>
          </a:p>
          <a:p>
            <a:pPr indent="0" marL="0">
              <a:buNone/>
            </a:pPr>
            <a:r>
              <a:rPr lang="en-US" sz="138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keyboard().press()</a:t>
            </a:r>
            <a:endParaRPr lang="en-US" sz="1380" dirty="0"/>
          </a:p>
        </p:txBody>
      </p:sp>
      <p:sp>
        <p:nvSpPr>
          <p:cNvPr id="16" name="Text 13"/>
          <p:cNvSpPr/>
          <p:nvPr/>
        </p:nvSpPr>
        <p:spPr>
          <a:xfrm>
            <a:off x="7424928" y="1572768"/>
            <a:ext cx="2029968" cy="292608"/>
          </a:xfrm>
          <a:prstGeom prst="rect">
            <a:avLst/>
          </a:prstGeom>
          <a:solidFill>
            <a:srgbClr val="E31837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Synchronization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7424928" y="1883664"/>
            <a:ext cx="2029968" cy="1865376"/>
          </a:xfrm>
          <a:prstGeom prst="rect">
            <a:avLst/>
          </a:prstGeom>
          <a:solidFill>
            <a:srgbClr val="FFFFFF"/>
          </a:solidFill>
          <a:ln>
            <a:solidFill>
              <a:srgbClr val="D9E2EF">
                <a:alpha val="90000"/>
              </a:srgbClr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waitForLoadState()</a:t>
            </a:r>
            <a:endParaRPr lang="en-US" sz="1380" dirty="0"/>
          </a:p>
          <a:p>
            <a:pPr indent="0" marL="0">
              <a:buNone/>
            </a:pPr>
            <a:r>
              <a:rPr lang="en-US" sz="138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waitForFunction()</a:t>
            </a:r>
            <a:endParaRPr lang="en-US" sz="1380" dirty="0"/>
          </a:p>
          <a:p>
            <a:pPr indent="0" marL="0">
              <a:buNone/>
            </a:pPr>
            <a:r>
              <a:rPr lang="en-US" sz="138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locator.waitFor()</a:t>
            </a:r>
            <a:endParaRPr lang="en-US" sz="1380" dirty="0"/>
          </a:p>
          <a:p>
            <a:pPr indent="0" marL="0">
              <a:buNone/>
            </a:pPr>
            <a:r>
              <a:rPr lang="en-US" sz="138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default timeouts</a:t>
            </a:r>
            <a:endParaRPr lang="en-US" sz="1380" dirty="0"/>
          </a:p>
        </p:txBody>
      </p:sp>
      <p:sp>
        <p:nvSpPr>
          <p:cNvPr id="18" name="Text 15"/>
          <p:cNvSpPr/>
          <p:nvPr/>
        </p:nvSpPr>
        <p:spPr>
          <a:xfrm>
            <a:off x="9710928" y="1572768"/>
            <a:ext cx="2029968" cy="292608"/>
          </a:xfrm>
          <a:prstGeom prst="rect">
            <a:avLst/>
          </a:prstGeom>
          <a:solidFill>
            <a:srgbClr val="003B82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Diagnostics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9710928" y="1883664"/>
            <a:ext cx="2029968" cy="1865376"/>
          </a:xfrm>
          <a:prstGeom prst="rect">
            <a:avLst/>
          </a:prstGeom>
          <a:solidFill>
            <a:srgbClr val="FFFFFF"/>
          </a:solidFill>
          <a:ln>
            <a:solidFill>
              <a:srgbClr val="D9E2EF">
                <a:alpha val="90000"/>
              </a:srgbClr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page.content()</a:t>
            </a:r>
            <a:endParaRPr lang="en-US" sz="1380" dirty="0"/>
          </a:p>
          <a:p>
            <a:pPr indent="0" marL="0">
              <a:buNone/>
            </a:pPr>
            <a:r>
              <a:rPr lang="en-US" sz="138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screenshot()</a:t>
            </a:r>
            <a:endParaRPr lang="en-US" sz="1380" dirty="0"/>
          </a:p>
          <a:p>
            <a:pPr indent="0" marL="0">
              <a:buNone/>
            </a:pPr>
            <a:r>
              <a:rPr lang="en-US" sz="138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allInnerTexts()</a:t>
            </a:r>
            <a:endParaRPr lang="en-US" sz="1380" dirty="0"/>
          </a:p>
          <a:p>
            <a:pPr indent="0" marL="0">
              <a:buNone/>
            </a:pPr>
            <a:r>
              <a:rPr lang="en-US" sz="138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Copy-DOM artifacts</a:t>
            </a:r>
            <a:endParaRPr lang="en-US" sz="1380" dirty="0"/>
          </a:p>
        </p:txBody>
      </p:sp>
      <p:sp>
        <p:nvSpPr>
          <p:cNvPr id="20" name="Text 17"/>
          <p:cNvSpPr/>
          <p:nvPr/>
        </p:nvSpPr>
        <p:spPr>
          <a:xfrm>
            <a:off x="987552" y="4224528"/>
            <a:ext cx="10241280" cy="292608"/>
          </a:xfrm>
          <a:prstGeom prst="rect">
            <a:avLst/>
          </a:prstGeom>
          <a:solidFill>
            <a:srgbClr val="E31837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design shift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987552" y="4535424"/>
            <a:ext cx="10241280" cy="859536"/>
          </a:xfrm>
          <a:prstGeom prst="rect">
            <a:avLst/>
          </a:prstGeom>
          <a:solidFill>
            <a:srgbClr val="FFFFFF"/>
          </a:solidFill>
          <a:ln>
            <a:solidFill>
              <a:srgbClr val="D9E2EF">
                <a:alpha val="90000"/>
              </a:srgbClr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migration is not a WebDriver-to-Page substitution. It adds state detection, synchronization, evidence capture and recovery so failures can be classified instead of guessed.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3B82"/>
          </a:solidFill>
          <a:ln w="12700">
            <a:solidFill>
              <a:srgbClr val="003B8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02552"/>
            <a:ext cx="12191695" cy="155448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93776" y="201168"/>
            <a:ext cx="7086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A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Farmers Insurance | Selenium → Playwright Java | Integrated Executive Update | August 2026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93776" y="457200"/>
            <a:ext cx="864108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350" b="1" dirty="0">
                <a:solidFill>
                  <a:srgbClr val="003B8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Playwright-Native Auto Implementation</a:t>
            </a:r>
            <a:endParaRPr lang="en-US" sz="2350" dirty="0"/>
          </a:p>
        </p:txBody>
      </p:sp>
      <p:sp>
        <p:nvSpPr>
          <p:cNvPr id="6" name="Text 4"/>
          <p:cNvSpPr/>
          <p:nvPr/>
        </p:nvSpPr>
        <p:spPr>
          <a:xfrm>
            <a:off x="9464040" y="493776"/>
            <a:ext cx="786384" cy="246888"/>
          </a:xfrm>
          <a:prstGeom prst="rect">
            <a:avLst/>
          </a:prstGeom>
          <a:solidFill>
            <a:srgbClr val="003B82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</a:t>
            </a:r>
            <a:endParaRPr lang="en-US" sz="950" dirty="0"/>
          </a:p>
        </p:txBody>
      </p:sp>
      <p:pic>
        <p:nvPicPr>
          <p:cNvPr id="7" name="Image 0" descr="/mnt/data/ppt_extract/auto/ppt/media/image-1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33888" y="238571"/>
            <a:ext cx="1143000" cy="6201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384280" y="6473952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85800" y="969264"/>
            <a:ext cx="1078992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migration is Playwright-native and diagnostic-driven, not a direct WebDriver substitution.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49808" y="1554480"/>
            <a:ext cx="3236976" cy="292608"/>
          </a:xfrm>
          <a:prstGeom prst="rect">
            <a:avLst/>
          </a:prstGeom>
          <a:solidFill>
            <a:srgbClr val="003B82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Navigation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49808" y="1865376"/>
            <a:ext cx="3236976" cy="804672"/>
          </a:xfrm>
          <a:prstGeom prst="rect">
            <a:avLst/>
          </a:prstGeom>
          <a:solidFill>
            <a:srgbClr val="FFFFFF"/>
          </a:solidFill>
          <a:ln>
            <a:solidFill>
              <a:srgbClr val="D9E2EF">
                <a:alpha val="90000"/>
              </a:srgbClr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page.navigate()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page.url()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page.reload()</a:t>
            </a:r>
            <a:endParaRPr lang="en-US" sz="1480" dirty="0"/>
          </a:p>
        </p:txBody>
      </p:sp>
      <p:sp>
        <p:nvSpPr>
          <p:cNvPr id="12" name="Text 9"/>
          <p:cNvSpPr/>
          <p:nvPr/>
        </p:nvSpPr>
        <p:spPr>
          <a:xfrm>
            <a:off x="4462272" y="1554480"/>
            <a:ext cx="3236976" cy="292608"/>
          </a:xfrm>
          <a:prstGeom prst="rect">
            <a:avLst/>
          </a:prstGeom>
          <a:solidFill>
            <a:srgbClr val="E31837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Locators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462272" y="1865376"/>
            <a:ext cx="3236976" cy="804672"/>
          </a:xfrm>
          <a:prstGeom prst="rect">
            <a:avLst/>
          </a:prstGeom>
          <a:solidFill>
            <a:srgbClr val="FFFFFF"/>
          </a:solidFill>
          <a:ln>
            <a:solidFill>
              <a:srgbClr val="D9E2EF">
                <a:alpha val="90000"/>
              </a:srgbClr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getByRole()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getByLabel()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locator()</a:t>
            </a:r>
            <a:endParaRPr lang="en-US" sz="1480" dirty="0"/>
          </a:p>
        </p:txBody>
      </p:sp>
      <p:sp>
        <p:nvSpPr>
          <p:cNvPr id="14" name="Text 11"/>
          <p:cNvSpPr/>
          <p:nvPr/>
        </p:nvSpPr>
        <p:spPr>
          <a:xfrm>
            <a:off x="8174736" y="1554480"/>
            <a:ext cx="3236976" cy="292608"/>
          </a:xfrm>
          <a:prstGeom prst="rect">
            <a:avLst/>
          </a:prstGeom>
          <a:solidFill>
            <a:srgbClr val="003B82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Interaction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8174736" y="1865376"/>
            <a:ext cx="3236976" cy="804672"/>
          </a:xfrm>
          <a:prstGeom prst="rect">
            <a:avLst/>
          </a:prstGeom>
          <a:solidFill>
            <a:srgbClr val="FFFFFF"/>
          </a:solidFill>
          <a:ln>
            <a:solidFill>
              <a:srgbClr val="D9E2EF">
                <a:alpha val="90000"/>
              </a:srgbClr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click()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fill()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selectOption()</a:t>
            </a:r>
            <a:endParaRPr lang="en-US" sz="1480" dirty="0"/>
          </a:p>
        </p:txBody>
      </p:sp>
      <p:sp>
        <p:nvSpPr>
          <p:cNvPr id="16" name="Text 13"/>
          <p:cNvSpPr/>
          <p:nvPr/>
        </p:nvSpPr>
        <p:spPr>
          <a:xfrm>
            <a:off x="749808" y="2980944"/>
            <a:ext cx="3236976" cy="292608"/>
          </a:xfrm>
          <a:prstGeom prst="rect">
            <a:avLst/>
          </a:prstGeom>
          <a:solidFill>
            <a:srgbClr val="E31837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Waits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749808" y="3291840"/>
            <a:ext cx="3236976" cy="804672"/>
          </a:xfrm>
          <a:prstGeom prst="rect">
            <a:avLst/>
          </a:prstGeom>
          <a:solidFill>
            <a:srgbClr val="FFFFFF"/>
          </a:solidFill>
          <a:ln>
            <a:solidFill>
              <a:srgbClr val="D9E2EF">
                <a:alpha val="90000"/>
              </a:srgbClr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waitForLoadState()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locator.waitFor()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 spinner wait</a:t>
            </a:r>
            <a:endParaRPr lang="en-US" sz="1480" dirty="0"/>
          </a:p>
        </p:txBody>
      </p:sp>
      <p:sp>
        <p:nvSpPr>
          <p:cNvPr id="18" name="Text 15"/>
          <p:cNvSpPr/>
          <p:nvPr/>
        </p:nvSpPr>
        <p:spPr>
          <a:xfrm>
            <a:off x="4462272" y="2980944"/>
            <a:ext cx="3236976" cy="292608"/>
          </a:xfrm>
          <a:prstGeom prst="rect">
            <a:avLst/>
          </a:prstGeom>
          <a:solidFill>
            <a:srgbClr val="003B82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Diagnostics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4462272" y="3291840"/>
            <a:ext cx="3236976" cy="804672"/>
          </a:xfrm>
          <a:prstGeom prst="rect">
            <a:avLst/>
          </a:prstGeom>
          <a:solidFill>
            <a:srgbClr val="FFFFFF"/>
          </a:solidFill>
          <a:ln>
            <a:solidFill>
              <a:srgbClr val="D9E2EF">
                <a:alpha val="90000"/>
              </a:srgbClr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page.content()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screenshot()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Copy-DOM checkpoints</a:t>
            </a:r>
            <a:endParaRPr lang="en-US" sz="1480" dirty="0"/>
          </a:p>
        </p:txBody>
      </p:sp>
      <p:sp>
        <p:nvSpPr>
          <p:cNvPr id="20" name="Text 17"/>
          <p:cNvSpPr/>
          <p:nvPr/>
        </p:nvSpPr>
        <p:spPr>
          <a:xfrm>
            <a:off x="8174736" y="2980944"/>
            <a:ext cx="3236976" cy="292608"/>
          </a:xfrm>
          <a:prstGeom prst="rect">
            <a:avLst/>
          </a:prstGeom>
          <a:solidFill>
            <a:srgbClr val="E31837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Frames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8174736" y="3291840"/>
            <a:ext cx="3236976" cy="804672"/>
          </a:xfrm>
          <a:prstGeom prst="rect">
            <a:avLst/>
          </a:prstGeom>
          <a:solidFill>
            <a:srgbClr val="FFFFFF"/>
          </a:solidFill>
          <a:ln>
            <a:solidFill>
              <a:srgbClr val="D9E2EF">
                <a:alpha val="90000"/>
              </a:srgbClr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frameLocator()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secure payment fields</a:t>
            </a:r>
            <a:endParaRPr lang="en-US" sz="1480" dirty="0"/>
          </a:p>
        </p:txBody>
      </p:sp>
      <p:sp>
        <p:nvSpPr>
          <p:cNvPr id="22" name="Text 19"/>
          <p:cNvSpPr/>
          <p:nvPr/>
        </p:nvSpPr>
        <p:spPr>
          <a:xfrm>
            <a:off x="950976" y="4718304"/>
            <a:ext cx="10287000" cy="292608"/>
          </a:xfrm>
          <a:prstGeom prst="rect">
            <a:avLst/>
          </a:prstGeom>
          <a:solidFill>
            <a:srgbClr val="E31837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Validation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950976" y="5029200"/>
            <a:ext cx="10287000" cy="466344"/>
          </a:xfrm>
          <a:prstGeom prst="rect">
            <a:avLst/>
          </a:prstGeom>
          <a:solidFill>
            <a:srgbClr val="FFFFFF"/>
          </a:solidFill>
          <a:ln>
            <a:solidFill>
              <a:srgbClr val="D9E2EF">
                <a:alpha val="90000"/>
              </a:srgbClr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66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100% Playwright Java path — no Selenium, WebDriver, PageFactory, WebDriverWait, JavascriptExecutor or Thread.sleep usage found in the BristolWest E2E path.</a:t>
            </a:r>
            <a:endParaRPr lang="en-US" sz="16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3B82"/>
          </a:solidFill>
          <a:ln w="12700">
            <a:solidFill>
              <a:srgbClr val="003B8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02552"/>
            <a:ext cx="12191695" cy="155448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93776" y="201168"/>
            <a:ext cx="7086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A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Farmers Insurance | Selenium → Playwright Java | Integrated Executive Update | August 2026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93776" y="457200"/>
            <a:ext cx="864108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350" b="1" dirty="0">
                <a:solidFill>
                  <a:srgbClr val="003B8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Execution Performance</a:t>
            </a:r>
            <a:endParaRPr lang="en-US" sz="2350" dirty="0"/>
          </a:p>
        </p:txBody>
      </p:sp>
      <p:sp>
        <p:nvSpPr>
          <p:cNvPr id="6" name="Text 4"/>
          <p:cNvSpPr/>
          <p:nvPr/>
        </p:nvSpPr>
        <p:spPr>
          <a:xfrm>
            <a:off x="9464040" y="493776"/>
            <a:ext cx="786384" cy="246888"/>
          </a:xfrm>
          <a:prstGeom prst="rect">
            <a:avLst/>
          </a:prstGeom>
          <a:solidFill>
            <a:srgbClr val="E31837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</a:t>
            </a:r>
            <a:endParaRPr lang="en-US" sz="950" dirty="0"/>
          </a:p>
        </p:txBody>
      </p:sp>
      <p:pic>
        <p:nvPicPr>
          <p:cNvPr id="7" name="Image 0" descr="/mnt/data/ppt_extract/auto/ppt/media/image-1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33888" y="238571"/>
            <a:ext cx="1143000" cy="6201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384280" y="6473952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85800" y="969264"/>
            <a:ext cx="1078992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Environment interruptions increase both failure risk and execution cost.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22960" y="1627632"/>
            <a:ext cx="2606040" cy="460858"/>
          </a:xfrm>
          <a:prstGeom prst="rect">
            <a:avLst/>
          </a:prstGeom>
          <a:solidFill>
            <a:srgbClr val="FFFFFF"/>
          </a:solidFill>
          <a:ln>
            <a:solidFill>
              <a:srgbClr val="D9E2EF">
                <a:alpha val="8500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3B8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74–77 sec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822960" y="2176272"/>
            <a:ext cx="2606040" cy="548640"/>
          </a:xfrm>
          <a:prstGeom prst="rect">
            <a:avLst/>
          </a:prstGeom>
          <a:solidFill>
            <a:srgbClr val="FFFFFF"/>
          </a:solidFill>
          <a:ln>
            <a:solidFill>
              <a:srgbClr val="D9E2EF">
                <a:alpha val="8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 successful runs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Observed successful artifact windows without recovery.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3703320" y="1627632"/>
            <a:ext cx="2606040" cy="460858"/>
          </a:xfrm>
          <a:prstGeom prst="rect">
            <a:avLst/>
          </a:prstGeom>
          <a:solidFill>
            <a:srgbClr val="FFFFFF"/>
          </a:solidFill>
          <a:ln>
            <a:solidFill>
              <a:srgbClr val="D9E2EF">
                <a:alpha val="8500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318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124.1 sec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3703320" y="2176272"/>
            <a:ext cx="2606040" cy="548640"/>
          </a:xfrm>
          <a:prstGeom prst="rect">
            <a:avLst/>
          </a:prstGeom>
          <a:solidFill>
            <a:srgbClr val="FFFFFF"/>
          </a:solidFill>
          <a:ln>
            <a:solidFill>
              <a:srgbClr val="D9E2EF">
                <a:alpha val="8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Successful run with recovery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Includes an Inconvenience interruption and recovery path.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6583680" y="1627632"/>
            <a:ext cx="2606040" cy="460858"/>
          </a:xfrm>
          <a:prstGeom prst="rect">
            <a:avLst/>
          </a:prstGeom>
          <a:solidFill>
            <a:srgbClr val="FFFFFF"/>
          </a:solidFill>
          <a:ln>
            <a:solidFill>
              <a:srgbClr val="D9E2EF">
                <a:alpha val="8500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3B8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99.24 sec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6583680" y="2176272"/>
            <a:ext cx="2606040" cy="548640"/>
          </a:xfrm>
          <a:prstGeom prst="rect">
            <a:avLst/>
          </a:prstGeom>
          <a:solidFill>
            <a:srgbClr val="FFFFFF"/>
          </a:solidFill>
          <a:ln>
            <a:solidFill>
              <a:srgbClr val="D9E2EF">
                <a:alpha val="8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Latest verified test runtime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Gradle/XML report.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9445752" y="1627632"/>
            <a:ext cx="1874520" cy="292608"/>
          </a:xfrm>
          <a:prstGeom prst="rect">
            <a:avLst/>
          </a:prstGeom>
          <a:solidFill>
            <a:srgbClr val="003B82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Observed successful run windows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9445752" y="1938528"/>
            <a:ext cx="1874520" cy="1499616"/>
          </a:xfrm>
          <a:prstGeom prst="rect">
            <a:avLst/>
          </a:prstGeom>
          <a:solidFill>
            <a:srgbClr val="FFFFFF"/>
          </a:solidFill>
          <a:ln>
            <a:solidFill>
              <a:srgbClr val="D9E2EF">
                <a:alpha val="90000"/>
              </a:srgbClr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 A — 76.7s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Recovery — 124.1s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 B — 74.2s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Latest report — 99.2s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941832" y="4133088"/>
            <a:ext cx="1033272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implication: recovery is valuable, but every interruption consumes additional CI/CD capacity and delays feedback.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1005840" y="4800600"/>
            <a:ext cx="10149840" cy="292608"/>
          </a:xfrm>
          <a:prstGeom prst="rect">
            <a:avLst/>
          </a:prstGeom>
          <a:solidFill>
            <a:srgbClr val="E31837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Readout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005840" y="5111496"/>
            <a:ext cx="10149840" cy="374904"/>
          </a:xfrm>
          <a:prstGeom prst="rect">
            <a:avLst/>
          </a:prstGeom>
          <a:solidFill>
            <a:srgbClr val="FFFFFF"/>
          </a:solidFill>
          <a:ln>
            <a:solidFill>
              <a:srgbClr val="D9E2EF">
                <a:alpha val="90000"/>
              </a:srgbClr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58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latest verified runtime remains acceptable for an E2E executive proof point. At scale, interruptions must be measured separately so runtime cost does not get misattributed to automation design.</a:t>
            </a:r>
            <a:endParaRPr lang="en-US" sz="15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3B82"/>
          </a:solidFill>
          <a:ln w="12700">
            <a:solidFill>
              <a:srgbClr val="003B8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02552"/>
            <a:ext cx="12191695" cy="155448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93776" y="201168"/>
            <a:ext cx="7086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A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Farmers Insurance | Selenium → Playwright Java | Integrated Executive Update | August 2026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93776" y="457200"/>
            <a:ext cx="864108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350" b="1" dirty="0">
                <a:solidFill>
                  <a:srgbClr val="003B8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Flakiness Evidence: What It Proves</a:t>
            </a:r>
            <a:endParaRPr lang="en-US" sz="2350" dirty="0"/>
          </a:p>
        </p:txBody>
      </p:sp>
      <p:sp>
        <p:nvSpPr>
          <p:cNvPr id="6" name="Text 4"/>
          <p:cNvSpPr/>
          <p:nvPr/>
        </p:nvSpPr>
        <p:spPr>
          <a:xfrm>
            <a:off x="9464040" y="493776"/>
            <a:ext cx="786384" cy="246888"/>
          </a:xfrm>
          <a:prstGeom prst="rect">
            <a:avLst/>
          </a:prstGeom>
          <a:solidFill>
            <a:srgbClr val="E31837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</a:t>
            </a:r>
            <a:endParaRPr lang="en-US" sz="950" dirty="0"/>
          </a:p>
        </p:txBody>
      </p:sp>
      <p:pic>
        <p:nvPicPr>
          <p:cNvPr id="7" name="Image 0" descr="/mnt/data/ppt_extract/auto/ppt/media/image-1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33888" y="238571"/>
            <a:ext cx="1143000" cy="6201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384280" y="6473952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85800" y="969264"/>
            <a:ext cx="1078992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Avoid treating development-history failures as the final production-like flakiness baseline.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68096" y="1609344"/>
            <a:ext cx="2514600" cy="453177"/>
          </a:xfrm>
          <a:prstGeom prst="rect">
            <a:avLst/>
          </a:prstGeom>
          <a:solidFill>
            <a:srgbClr val="FFFFFF"/>
          </a:solidFill>
          <a:ln>
            <a:solidFill>
              <a:srgbClr val="D9E2EF">
                <a:alpha val="8500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3B8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37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768096" y="2148840"/>
            <a:ext cx="2514600" cy="539496"/>
          </a:xfrm>
          <a:prstGeom prst="rect">
            <a:avLst/>
          </a:prstGeom>
          <a:solidFill>
            <a:srgbClr val="FFFFFF"/>
          </a:solidFill>
          <a:ln>
            <a:solidFill>
              <a:srgbClr val="D9E2EF">
                <a:alpha val="8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Historical artifact runs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history spans iterative framework changes and migration work.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3675888" y="1609344"/>
            <a:ext cx="2514600" cy="453177"/>
          </a:xfrm>
          <a:prstGeom prst="rect">
            <a:avLst/>
          </a:prstGeom>
          <a:solidFill>
            <a:srgbClr val="FFFFFF"/>
          </a:solidFill>
          <a:ln>
            <a:solidFill>
              <a:srgbClr val="D9E2EF">
                <a:alpha val="8500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46B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91.89%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3675888" y="2148840"/>
            <a:ext cx="2514600" cy="539496"/>
          </a:xfrm>
          <a:prstGeom prst="rect">
            <a:avLst/>
          </a:prstGeom>
          <a:solidFill>
            <a:srgbClr val="FFFFFF"/>
          </a:solidFill>
          <a:ln>
            <a:solidFill>
              <a:srgbClr val="D9E2EF">
                <a:alpha val="8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Raw historical failure rate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34/37. Useful as development history—not a final flakiness KPI.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6583680" y="1609344"/>
            <a:ext cx="2514600" cy="453177"/>
          </a:xfrm>
          <a:prstGeom prst="rect">
            <a:avLst/>
          </a:prstGeom>
          <a:solidFill>
            <a:srgbClr val="FFFFFF"/>
          </a:solidFill>
          <a:ln>
            <a:solidFill>
              <a:srgbClr val="D9E2EF">
                <a:alpha val="8500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318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8.11%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6583680" y="2148840"/>
            <a:ext cx="2514600" cy="539496"/>
          </a:xfrm>
          <a:prstGeom prst="rect">
            <a:avLst/>
          </a:prstGeom>
          <a:solidFill>
            <a:srgbClr val="FFFFFF"/>
          </a:solidFill>
          <a:ln>
            <a:solidFill>
              <a:srgbClr val="D9E2EF">
                <a:alpha val="8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Observed env. interruption rate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3/37 runs contain Inconvenience/KnockOut-class interruption evidence.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896112" y="3218688"/>
            <a:ext cx="5230368" cy="292608"/>
          </a:xfrm>
          <a:prstGeom prst="rect">
            <a:avLst/>
          </a:prstGeom>
          <a:solidFill>
            <a:srgbClr val="003B82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we can say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896112" y="3529584"/>
            <a:ext cx="5230368" cy="1225296"/>
          </a:xfrm>
          <a:prstGeom prst="rect">
            <a:avLst/>
          </a:prstGeom>
          <a:solidFill>
            <a:srgbClr val="FFFFFF"/>
          </a:solidFill>
          <a:ln>
            <a:solidFill>
              <a:srgbClr val="D9E2EF">
                <a:alpha val="90000"/>
              </a:srgbClr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Repeated Inconvenience behavior is evidenced across runs.</a:t>
            </a:r>
            <a:endParaRPr lang="en-US" sz="1620" dirty="0"/>
          </a:p>
          <a:p>
            <a:pPr indent="0" marL="0">
              <a:buNone/>
            </a:pPr>
            <a:r>
              <a:rPr lang="en-US" sz="162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At least one interrupted run recovered and still reached PASS.</a:t>
            </a:r>
            <a:endParaRPr lang="en-US" sz="1620" dirty="0"/>
          </a:p>
          <a:p>
            <a:pPr indent="0" marL="0">
              <a:buNone/>
            </a:pPr>
            <a:r>
              <a:rPr lang="en-US" sz="162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Historical outcomes were non-deterministic.</a:t>
            </a:r>
            <a:endParaRPr lang="en-US" sz="1620" dirty="0"/>
          </a:p>
        </p:txBody>
      </p:sp>
      <p:sp>
        <p:nvSpPr>
          <p:cNvPr id="18" name="Text 15"/>
          <p:cNvSpPr/>
          <p:nvPr/>
        </p:nvSpPr>
        <p:spPr>
          <a:xfrm>
            <a:off x="6355080" y="3218688"/>
            <a:ext cx="4956048" cy="292608"/>
          </a:xfrm>
          <a:prstGeom prst="rect">
            <a:avLst/>
          </a:prstGeom>
          <a:solidFill>
            <a:srgbClr val="E31837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we should NOT claim yet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355080" y="3529584"/>
            <a:ext cx="4956048" cy="1225296"/>
          </a:xfrm>
          <a:prstGeom prst="rect">
            <a:avLst/>
          </a:prstGeom>
          <a:solidFill>
            <a:srgbClr val="FFFFFF"/>
          </a:solidFill>
          <a:ln>
            <a:solidFill>
              <a:srgbClr val="D9E2EF">
                <a:alpha val="90000"/>
              </a:srgbClr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91.89% is not the finalized scenario flakiness.</a:t>
            </a:r>
            <a:endParaRPr lang="en-US" sz="1620" dirty="0"/>
          </a:p>
          <a:p>
            <a:pPr indent="0" marL="0">
              <a:buNone/>
            </a:pPr>
            <a:r>
              <a:rPr lang="en-US" sz="162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The 37 runs were not a frozen-code, same-environment campaign.</a:t>
            </a:r>
            <a:endParaRPr lang="en-US" sz="1620" dirty="0"/>
          </a:p>
          <a:p>
            <a:pPr indent="0" marL="0">
              <a:buNone/>
            </a:pPr>
            <a:r>
              <a:rPr lang="en-US" sz="162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 defensible baseline requires 30–50 consecutive controlled runs.</a:t>
            </a:r>
            <a:endParaRPr lang="en-US" sz="16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3B82"/>
          </a:solidFill>
          <a:ln w="12700">
            <a:solidFill>
              <a:srgbClr val="003B8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02552"/>
            <a:ext cx="12191695" cy="155448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93776" y="201168"/>
            <a:ext cx="7086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A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Farmers Insurance | Selenium → Playwright Java | Integrated Executive Update | August 2026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93776" y="457200"/>
            <a:ext cx="864108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350" b="1" dirty="0">
                <a:solidFill>
                  <a:srgbClr val="003B8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Resilience: Recovery &amp; Copy-DOM</a:t>
            </a:r>
            <a:endParaRPr lang="en-US" sz="2350" dirty="0"/>
          </a:p>
        </p:txBody>
      </p:sp>
      <p:sp>
        <p:nvSpPr>
          <p:cNvPr id="6" name="Text 4"/>
          <p:cNvSpPr/>
          <p:nvPr/>
        </p:nvSpPr>
        <p:spPr>
          <a:xfrm>
            <a:off x="9464040" y="493776"/>
            <a:ext cx="786384" cy="246888"/>
          </a:xfrm>
          <a:prstGeom prst="rect">
            <a:avLst/>
          </a:prstGeom>
          <a:solidFill>
            <a:srgbClr val="B5122A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</a:t>
            </a:r>
            <a:endParaRPr lang="en-US" sz="950" dirty="0"/>
          </a:p>
        </p:txBody>
      </p:sp>
      <p:pic>
        <p:nvPicPr>
          <p:cNvPr id="7" name="Image 0" descr="/mnt/data/ppt_extract/auto/ppt/media/image-1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33888" y="238571"/>
            <a:ext cx="1143000" cy="6201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384280" y="6473952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85800" y="969264"/>
            <a:ext cx="1078992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Recovery reduces false negatives; Copy-DOM explains what actually happened.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13232" y="1572768"/>
            <a:ext cx="3520440" cy="292608"/>
          </a:xfrm>
          <a:prstGeom prst="rect">
            <a:avLst/>
          </a:prstGeom>
          <a:solidFill>
            <a:srgbClr val="E31837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Inconvenience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13232" y="1883664"/>
            <a:ext cx="3520440" cy="1883664"/>
          </a:xfrm>
          <a:prstGeom prst="rect">
            <a:avLst/>
          </a:prstGeom>
          <a:solidFill>
            <a:srgbClr val="FFFFFF"/>
          </a:solidFill>
          <a:ln>
            <a:solidFill>
              <a:srgbClr val="D9E2EF">
                <a:alpha val="90000"/>
              </a:srgbClr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Unexpected maintenance-style interruption.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Detected through URL/DOM state signals.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Try Again recovery was observed and succeeded.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HOME recovery verified: detect → Try Again → resume → THANK YOU → PASS.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4334256" y="1572768"/>
            <a:ext cx="3520440" cy="292608"/>
          </a:xfrm>
          <a:prstGeom prst="rect">
            <a:avLst/>
          </a:prstGeom>
          <a:solidFill>
            <a:srgbClr val="003B82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KnockOut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334256" y="1883664"/>
            <a:ext cx="3520440" cy="1883664"/>
          </a:xfrm>
          <a:prstGeom prst="rect">
            <a:avLst/>
          </a:prstGeom>
          <a:solidFill>
            <a:srgbClr val="FFFFFF"/>
          </a:solidFill>
          <a:ln>
            <a:solidFill>
              <a:srgbClr val="D9E2EF">
                <a:alpha val="90000"/>
              </a:srgbClr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Business-rule state, not a locator defect.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Quote context is persisted for recovery.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Recovered flow continued to final success.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HOME detection exists for URL/body signals such as knockout / unable to continue.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7955280" y="1572768"/>
            <a:ext cx="3520440" cy="292608"/>
          </a:xfrm>
          <a:prstGeom prst="rect">
            <a:avLst/>
          </a:prstGeom>
          <a:solidFill>
            <a:srgbClr val="003B82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Copy-DOM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7955280" y="1883664"/>
            <a:ext cx="3520440" cy="1883664"/>
          </a:xfrm>
          <a:prstGeom prst="rect">
            <a:avLst/>
          </a:prstGeom>
          <a:solidFill>
            <a:srgbClr val="FFFFFF"/>
          </a:solidFill>
          <a:ln>
            <a:solidFill>
              <a:srgbClr val="D9E2EF">
                <a:alpha val="90000"/>
              </a:srgbClr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5 HTML checkpoints captured.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Screenshots accompany DOM artifacts.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Failures classify real page state, not guesses.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Captured evidence supports recovery and root-cause separation.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987552" y="4343400"/>
            <a:ext cx="1019556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Recovery is defensive automation; it does not remove the underlying application or environment interruption.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987552" y="4892040"/>
            <a:ext cx="1019556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318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Recovery is a resilience mechanism—not a root-cause fix.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3B82"/>
          </a:solidFill>
          <a:ln w="12700">
            <a:solidFill>
              <a:srgbClr val="003B8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02552"/>
            <a:ext cx="12191695" cy="155448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93776" y="201168"/>
            <a:ext cx="7086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A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Farmers Insurance | Selenium → Playwright Java | Integrated Executive Update | August 2026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93776" y="457200"/>
            <a:ext cx="864108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350" b="1" dirty="0">
                <a:solidFill>
                  <a:srgbClr val="003B8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Primary Blockers: Inconvenience &amp; KnockOut</a:t>
            </a:r>
            <a:endParaRPr lang="en-US" sz="2350" dirty="0"/>
          </a:p>
        </p:txBody>
      </p:sp>
      <p:sp>
        <p:nvSpPr>
          <p:cNvPr id="6" name="Text 4"/>
          <p:cNvSpPr/>
          <p:nvPr/>
        </p:nvSpPr>
        <p:spPr>
          <a:xfrm>
            <a:off x="9464040" y="493776"/>
            <a:ext cx="786384" cy="246888"/>
          </a:xfrm>
          <a:prstGeom prst="rect">
            <a:avLst/>
          </a:prstGeom>
          <a:solidFill>
            <a:srgbClr val="E31837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</a:t>
            </a:r>
            <a:endParaRPr lang="en-US" sz="950" dirty="0"/>
          </a:p>
        </p:txBody>
      </p:sp>
      <p:pic>
        <p:nvPicPr>
          <p:cNvPr id="7" name="Image 0" descr="/mnt/data/ppt_extract/auto/ppt/media/image-1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33888" y="238571"/>
            <a:ext cx="1143000" cy="6201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384280" y="6473952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85800" y="969264"/>
            <a:ext cx="1078992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Unexpected application states can invalidate otherwise-correct automation waits.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03504" y="1508760"/>
            <a:ext cx="5376672" cy="292608"/>
          </a:xfrm>
          <a:prstGeom prst="rect">
            <a:avLst/>
          </a:prstGeom>
          <a:solidFill>
            <a:srgbClr val="E31837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INCONVENIENCE PAGE — observed in HOME evidence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03504" y="1819656"/>
            <a:ext cx="5376672" cy="3694176"/>
          </a:xfrm>
          <a:prstGeom prst="rect">
            <a:avLst/>
          </a:prstGeom>
          <a:solidFill>
            <a:srgbClr val="FFFFFF"/>
          </a:solidFill>
          <a:ln>
            <a:solidFill>
              <a:srgbClr val="D9E2EF">
                <a:alpha val="90000"/>
              </a:srgbClr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53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Unexpected route to /quote/inconvenience.</a:t>
            </a:r>
            <a:endParaRPr lang="en-US" sz="1530" dirty="0"/>
          </a:p>
          <a:p>
            <a:pPr indent="0" marL="0">
              <a:buNone/>
            </a:pPr>
            <a:r>
              <a:rPr lang="en-US" sz="153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Interrupts the expected quote progression, including review/loading transitions.</a:t>
            </a:r>
            <a:endParaRPr lang="en-US" sz="1530" dirty="0"/>
          </a:p>
          <a:p>
            <a:pPr indent="0" marL="0">
              <a:buNone/>
            </a:pPr>
            <a:r>
              <a:rPr lang="en-US" sz="153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Can leave a normal destination wait unsatisfied until timeout.</a:t>
            </a:r>
            <a:endParaRPr lang="en-US" sz="1530" dirty="0"/>
          </a:p>
          <a:p>
            <a:pPr indent="0" marL="0">
              <a:buNone/>
            </a:pPr>
            <a:r>
              <a:rPr lang="en-US" sz="153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Recovery verified: detect → Try Again → resume → THANK YOU → PASS.</a:t>
            </a:r>
            <a:endParaRPr lang="en-US" sz="1530" dirty="0"/>
          </a:p>
        </p:txBody>
      </p:sp>
      <p:sp>
        <p:nvSpPr>
          <p:cNvPr id="12" name="Text 9"/>
          <p:cNvSpPr/>
          <p:nvPr/>
        </p:nvSpPr>
        <p:spPr>
          <a:xfrm>
            <a:off x="6208776" y="1508760"/>
            <a:ext cx="5376672" cy="292608"/>
          </a:xfrm>
          <a:prstGeom prst="rect">
            <a:avLst/>
          </a:prstGeom>
          <a:solidFill>
            <a:srgbClr val="003B82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KNOCKOUT PAGE — supported, not observed in this scenario evidence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208776" y="1819656"/>
            <a:ext cx="5376672" cy="3694176"/>
          </a:xfrm>
          <a:prstGeom prst="rect">
            <a:avLst/>
          </a:prstGeom>
          <a:solidFill>
            <a:srgbClr val="FFFFFF"/>
          </a:solidFill>
          <a:ln>
            <a:solidFill>
              <a:srgbClr val="D9E2EF">
                <a:alpha val="90000"/>
              </a:srgbClr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53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Detection exists for URL/body signals such as knockout / unable to continue.</a:t>
            </a:r>
            <a:endParaRPr lang="en-US" sz="1530" dirty="0"/>
          </a:p>
          <a:p>
            <a:pPr indent="0" marL="0">
              <a:buNone/>
            </a:pPr>
            <a:r>
              <a:rPr lang="en-US" sz="153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RecoveryManager handles KnockOut and Inconvenience with the same defensive strategy.</a:t>
            </a:r>
            <a:endParaRPr lang="en-US" sz="1530" dirty="0"/>
          </a:p>
          <a:p>
            <a:pPr indent="0" marL="0">
              <a:buNone/>
            </a:pPr>
            <a:r>
              <a:rPr lang="en-US" sz="153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No verified KnockOut occurrence was found in this HOME evidence set.</a:t>
            </a:r>
            <a:endParaRPr lang="en-US" sz="1530" dirty="0"/>
          </a:p>
          <a:p>
            <a:pPr indent="0" marL="0">
              <a:buNone/>
            </a:pPr>
            <a:r>
              <a:rPr lang="en-US" sz="153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Root cause and trigger conditions still require investigation.</a:t>
            </a:r>
            <a:endParaRPr lang="en-US" sz="1530" dirty="0"/>
          </a:p>
        </p:txBody>
      </p:sp>
      <p:sp>
        <p:nvSpPr>
          <p:cNvPr id="14" name="Text 11"/>
          <p:cNvSpPr/>
          <p:nvPr/>
        </p:nvSpPr>
        <p:spPr>
          <a:xfrm>
            <a:off x="987552" y="5669280"/>
            <a:ext cx="1019556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E318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Recovery is a resilience mechanism—not a root-cause fix.</a:t>
            </a:r>
            <a:endParaRPr lang="en-US" sz="1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3B82"/>
          </a:solidFill>
          <a:ln w="12700">
            <a:solidFill>
              <a:srgbClr val="003B8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02552"/>
            <a:ext cx="12191695" cy="155448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93776" y="201168"/>
            <a:ext cx="7086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A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Farmers Insurance | Selenium → Playwright Java | Integrated Executive Update | August 2026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93776" y="457200"/>
            <a:ext cx="864108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350" b="1" dirty="0">
                <a:solidFill>
                  <a:srgbClr val="003B8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Environment Stability Matters</a:t>
            </a:r>
            <a:endParaRPr lang="en-US" sz="2350" dirty="0"/>
          </a:p>
        </p:txBody>
      </p:sp>
      <p:sp>
        <p:nvSpPr>
          <p:cNvPr id="6" name="Text 4"/>
          <p:cNvSpPr/>
          <p:nvPr/>
        </p:nvSpPr>
        <p:spPr>
          <a:xfrm>
            <a:off x="9464040" y="493776"/>
            <a:ext cx="786384" cy="246888"/>
          </a:xfrm>
          <a:prstGeom prst="rect">
            <a:avLst/>
          </a:prstGeom>
          <a:solidFill>
            <a:srgbClr val="E31837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</a:t>
            </a:r>
            <a:endParaRPr lang="en-US" sz="950" dirty="0"/>
          </a:p>
        </p:txBody>
      </p:sp>
      <p:pic>
        <p:nvPicPr>
          <p:cNvPr id="7" name="Image 0" descr="/mnt/data/ppt_extract/auto/ppt/media/image-1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33888" y="238571"/>
            <a:ext cx="1143000" cy="6201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384280" y="6473952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85800" y="969264"/>
            <a:ext cx="1078992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Automation stability and environment stability are separate dimensions.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96112" y="1536192"/>
            <a:ext cx="3154680" cy="292608"/>
          </a:xfrm>
          <a:prstGeom prst="rect">
            <a:avLst/>
          </a:prstGeom>
          <a:solidFill>
            <a:srgbClr val="003B82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Stable Automation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96112" y="1847088"/>
            <a:ext cx="3154680" cy="832104"/>
          </a:xfrm>
          <a:prstGeom prst="rect">
            <a:avLst/>
          </a:prstGeom>
          <a:solidFill>
            <a:srgbClr val="FFFFFF"/>
          </a:solidFill>
          <a:ln>
            <a:solidFill>
              <a:srgbClr val="D9E2EF">
                <a:alpha val="90000"/>
              </a:srgbClr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Selectors • waits • state detection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Correct Playwright implementation reduces automation-originated failures.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4297680" y="1828800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318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+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4873752" y="1536192"/>
            <a:ext cx="3154680" cy="292608"/>
          </a:xfrm>
          <a:prstGeom prst="rect">
            <a:avLst/>
          </a:prstGeom>
          <a:solidFill>
            <a:srgbClr val="E31837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Stable Environment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873752" y="1847088"/>
            <a:ext cx="3154680" cy="832104"/>
          </a:xfrm>
          <a:prstGeom prst="rect">
            <a:avLst/>
          </a:prstGeom>
          <a:solidFill>
            <a:srgbClr val="FFFFFF"/>
          </a:solidFill>
          <a:ln>
            <a:solidFill>
              <a:srgbClr val="D9E2EF">
                <a:alpha val="90000"/>
              </a:srgbClr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Predictable app • services • sessions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Prevents unexpected blocker-state transitions.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8275320" y="1828800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3B8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=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8851392" y="1536192"/>
            <a:ext cx="2487168" cy="292608"/>
          </a:xfrm>
          <a:prstGeom prst="rect">
            <a:avLst/>
          </a:prstGeom>
          <a:solidFill>
            <a:srgbClr val="1B7F45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Reliable Regression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8851392" y="1847088"/>
            <a:ext cx="2487168" cy="832104"/>
          </a:xfrm>
          <a:prstGeom prst="rect">
            <a:avLst/>
          </a:prstGeom>
          <a:solidFill>
            <a:srgbClr val="FFFFFF"/>
          </a:solidFill>
          <a:ln>
            <a:solidFill>
              <a:srgbClr val="D9E2EF">
                <a:alpha val="90000"/>
              </a:srgbClr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Trustworthy PASS / FAIL signal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Both dimensions are required at scale.</a:t>
            </a:r>
            <a:endParaRPr lang="en-US" sz="1550" dirty="0"/>
          </a:p>
        </p:txBody>
      </p:sp>
      <p:sp>
        <p:nvSpPr>
          <p:cNvPr id="18" name="Text 15"/>
          <p:cNvSpPr/>
          <p:nvPr/>
        </p:nvSpPr>
        <p:spPr>
          <a:xfrm>
            <a:off x="960120" y="3310128"/>
            <a:ext cx="10287000" cy="292608"/>
          </a:xfrm>
          <a:prstGeom prst="rect">
            <a:avLst/>
          </a:prstGeom>
          <a:solidFill>
            <a:srgbClr val="003B82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locator/wait tuning alone cannot solve environment interruptions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960120" y="3621024"/>
            <a:ext cx="10287000" cy="1609344"/>
          </a:xfrm>
          <a:prstGeom prst="rect">
            <a:avLst/>
          </a:prstGeom>
          <a:solidFill>
            <a:srgbClr val="FFFFFF"/>
          </a:solidFill>
          <a:ln>
            <a:solidFill>
              <a:srgbClr val="D9E2EF">
                <a:alpha val="90000"/>
              </a:srgbClr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63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Longer waits cannot make an expected state appear when the application has routed elsewhere.</a:t>
            </a:r>
            <a:endParaRPr lang="en-US" sz="1630" dirty="0"/>
          </a:p>
          <a:p>
            <a:pPr indent="0" marL="0">
              <a:buNone/>
            </a:pPr>
            <a:r>
              <a:rPr lang="en-US" sz="163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Excessive timeouts hide symptoms, increase runtime and delay failure feedback.</a:t>
            </a:r>
            <a:endParaRPr lang="en-US" sz="1630" dirty="0"/>
          </a:p>
          <a:p>
            <a:pPr indent="0" marL="0">
              <a:buNone/>
            </a:pPr>
            <a:r>
              <a:rPr lang="en-US" sz="163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Backend/service/session conditions require application and environment telemetry—not only UI retries.</a:t>
            </a:r>
            <a:endParaRPr lang="en-US" sz="1630" dirty="0"/>
          </a:p>
          <a:p>
            <a:pPr indent="0" marL="0">
              <a:buNone/>
            </a:pPr>
            <a:r>
              <a:rPr lang="en-US" sz="163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Parallel regression can amplify intermittent environment noise across many concurrent tests.</a:t>
            </a:r>
            <a:endParaRPr lang="en-US" sz="163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3B82"/>
          </a:solidFill>
          <a:ln w="12700">
            <a:solidFill>
              <a:srgbClr val="003B8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02552"/>
            <a:ext cx="12191695" cy="155448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93776" y="201168"/>
            <a:ext cx="7086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A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Farmers Insurance | Selenium → Playwright Java | Integrated Executive Update | August 2026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93776" y="457200"/>
            <a:ext cx="864108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350" b="1" dirty="0">
                <a:solidFill>
                  <a:srgbClr val="003B8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Stability &amp; Readiness Evidence</a:t>
            </a:r>
            <a:endParaRPr lang="en-US" sz="2350" dirty="0"/>
          </a:p>
        </p:txBody>
      </p:sp>
      <p:sp>
        <p:nvSpPr>
          <p:cNvPr id="6" name="Text 4"/>
          <p:cNvSpPr/>
          <p:nvPr/>
        </p:nvSpPr>
        <p:spPr>
          <a:xfrm>
            <a:off x="9464040" y="493776"/>
            <a:ext cx="786384" cy="246888"/>
          </a:xfrm>
          <a:prstGeom prst="rect">
            <a:avLst/>
          </a:prstGeom>
          <a:solidFill>
            <a:srgbClr val="003B82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</a:t>
            </a:r>
            <a:endParaRPr lang="en-US" sz="950" dirty="0"/>
          </a:p>
        </p:txBody>
      </p:sp>
      <p:pic>
        <p:nvPicPr>
          <p:cNvPr id="7" name="Image 0" descr="/mnt/data/ppt_extract/auto/ppt/media/image-1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33888" y="238571"/>
            <a:ext cx="1143000" cy="6201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384280" y="6473952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85800" y="969264"/>
            <a:ext cx="1078992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verified evidence carefully: one successful XML report is not a production flakiness baseline.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49808" y="1572768"/>
            <a:ext cx="2606040" cy="292608"/>
          </a:xfrm>
          <a:prstGeom prst="rect">
            <a:avLst/>
          </a:prstGeom>
          <a:solidFill>
            <a:srgbClr val="003B82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Verified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49808" y="1883664"/>
            <a:ext cx="2606040" cy="603504"/>
          </a:xfrm>
          <a:prstGeom prst="rect">
            <a:avLst/>
          </a:prstGeom>
          <a:solidFill>
            <a:srgbClr val="FFFFFF"/>
          </a:solidFill>
          <a:ln>
            <a:solidFill>
              <a:srgbClr val="D9E2EF">
                <a:alpha val="90000"/>
              </a:srgbClr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58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 #1: 1 test passed, 0 failures, terminal PURCHASE_SUCCESS.</a:t>
            </a:r>
            <a:endParaRPr lang="en-US" sz="1580" dirty="0"/>
          </a:p>
        </p:txBody>
      </p:sp>
      <p:sp>
        <p:nvSpPr>
          <p:cNvPr id="12" name="Text 9"/>
          <p:cNvSpPr/>
          <p:nvPr/>
        </p:nvSpPr>
        <p:spPr>
          <a:xfrm>
            <a:off x="3602736" y="1572768"/>
            <a:ext cx="2606040" cy="292608"/>
          </a:xfrm>
          <a:prstGeom prst="rect">
            <a:avLst/>
          </a:prstGeom>
          <a:solidFill>
            <a:srgbClr val="1B7F45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Observed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3602736" y="1883664"/>
            <a:ext cx="2606040" cy="603504"/>
          </a:xfrm>
          <a:prstGeom prst="rect">
            <a:avLst/>
          </a:prstGeom>
          <a:solidFill>
            <a:srgbClr val="FFFFFF"/>
          </a:solidFill>
          <a:ln>
            <a:solidFill>
              <a:srgbClr val="D9E2EF">
                <a:alpha val="90000"/>
              </a:srgbClr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58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Recovery triggered and succeeded during the verified run.</a:t>
            </a:r>
            <a:endParaRPr lang="en-US" sz="1580" dirty="0"/>
          </a:p>
        </p:txBody>
      </p:sp>
      <p:sp>
        <p:nvSpPr>
          <p:cNvPr id="14" name="Text 11"/>
          <p:cNvSpPr/>
          <p:nvPr/>
        </p:nvSpPr>
        <p:spPr>
          <a:xfrm>
            <a:off x="6455664" y="1572768"/>
            <a:ext cx="2606040" cy="292608"/>
          </a:xfrm>
          <a:prstGeom prst="rect">
            <a:avLst/>
          </a:prstGeom>
          <a:solidFill>
            <a:srgbClr val="B46B00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Partial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455664" y="1883664"/>
            <a:ext cx="2606040" cy="603504"/>
          </a:xfrm>
          <a:prstGeom prst="rect">
            <a:avLst/>
          </a:prstGeom>
          <a:solidFill>
            <a:srgbClr val="FFFFFF"/>
          </a:solidFill>
          <a:ln>
            <a:solidFill>
              <a:srgbClr val="D9E2EF">
                <a:alpha val="90000"/>
              </a:srgbClr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53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 #2 is referenced in checkpoint notes, but direct second XML was not accessible.</a:t>
            </a:r>
            <a:endParaRPr lang="en-US" sz="1530" dirty="0"/>
          </a:p>
        </p:txBody>
      </p:sp>
      <p:sp>
        <p:nvSpPr>
          <p:cNvPr id="16" name="Text 13"/>
          <p:cNvSpPr/>
          <p:nvPr/>
        </p:nvSpPr>
        <p:spPr>
          <a:xfrm>
            <a:off x="9308592" y="1572768"/>
            <a:ext cx="2103120" cy="292608"/>
          </a:xfrm>
          <a:prstGeom prst="rect">
            <a:avLst/>
          </a:prstGeom>
          <a:solidFill>
            <a:srgbClr val="E31837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Insufficient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9308592" y="1883664"/>
            <a:ext cx="2103120" cy="603504"/>
          </a:xfrm>
          <a:prstGeom prst="rect">
            <a:avLst/>
          </a:prstGeom>
          <a:solidFill>
            <a:srgbClr val="FFFFFF"/>
          </a:solidFill>
          <a:ln>
            <a:solidFill>
              <a:srgbClr val="D9E2EF">
                <a:alpha val="90000"/>
              </a:srgbClr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53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statistically reliable flakiness percentage cannot be claimed yet.</a:t>
            </a:r>
            <a:endParaRPr lang="en-US" sz="1530" dirty="0"/>
          </a:p>
        </p:txBody>
      </p:sp>
      <p:sp>
        <p:nvSpPr>
          <p:cNvPr id="18" name="Text 15"/>
          <p:cNvSpPr/>
          <p:nvPr/>
        </p:nvSpPr>
        <p:spPr>
          <a:xfrm>
            <a:off x="932688" y="2971800"/>
            <a:ext cx="10351008" cy="292608"/>
          </a:xfrm>
          <a:prstGeom prst="rect">
            <a:avLst/>
          </a:prstGeom>
          <a:solidFill>
            <a:srgbClr val="003B82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Recommended proof point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932688" y="3282696"/>
            <a:ext cx="10351008" cy="987552"/>
          </a:xfrm>
          <a:prstGeom prst="rect">
            <a:avLst/>
          </a:prstGeom>
          <a:solidFill>
            <a:srgbClr val="FFFFFF"/>
          </a:solidFill>
          <a:ln>
            <a:solidFill>
              <a:srgbClr val="D9E2EF">
                <a:alpha val="90000"/>
              </a:srgbClr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20 controlled executions of the deterministic scenario before presenting a reliable stability metric.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Then expand to 2–3 additional deterministic applicants before reintroducing broader data-provider variability.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932688" y="4663440"/>
            <a:ext cx="10351008" cy="292608"/>
          </a:xfrm>
          <a:prstGeom prst="rect">
            <a:avLst/>
          </a:prstGeom>
          <a:solidFill>
            <a:srgbClr val="E31837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Executive interpretation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932688" y="4974336"/>
            <a:ext cx="10351008" cy="493776"/>
          </a:xfrm>
          <a:prstGeom prst="rect">
            <a:avLst/>
          </a:prstGeom>
          <a:solidFill>
            <a:srgbClr val="FFFFFF"/>
          </a:solidFill>
          <a:ln>
            <a:solidFill>
              <a:srgbClr val="D9E2EF">
                <a:alpha val="90000"/>
              </a:srgbClr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68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Auto golden path is functionally migrated and E2E-capable. Regression confidence now depends on repeatability evidence plus environment-stability telemetry.</a:t>
            </a:r>
            <a:endParaRPr lang="en-US" sz="168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3B82"/>
          </a:solidFill>
          <a:ln w="12700">
            <a:solidFill>
              <a:srgbClr val="003B8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02552"/>
            <a:ext cx="12191695" cy="155448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93776" y="201168"/>
            <a:ext cx="7086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A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Farmers Insurance | Selenium → Playwright Java | Integrated Executive Update | August 2026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93776" y="457200"/>
            <a:ext cx="864108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350" b="1" dirty="0">
                <a:solidFill>
                  <a:srgbClr val="003B8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Unified Regression Readiness Model</a:t>
            </a:r>
            <a:endParaRPr lang="en-US" sz="2350" dirty="0"/>
          </a:p>
        </p:txBody>
      </p:sp>
      <p:sp>
        <p:nvSpPr>
          <p:cNvPr id="6" name="Text 4"/>
          <p:cNvSpPr/>
          <p:nvPr/>
        </p:nvSpPr>
        <p:spPr>
          <a:xfrm>
            <a:off x="9464040" y="493776"/>
            <a:ext cx="786384" cy="246888"/>
          </a:xfrm>
          <a:prstGeom prst="rect">
            <a:avLst/>
          </a:prstGeom>
          <a:solidFill>
            <a:srgbClr val="B5122A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</a:t>
            </a:r>
            <a:endParaRPr lang="en-US" sz="950" dirty="0"/>
          </a:p>
        </p:txBody>
      </p:sp>
      <p:pic>
        <p:nvPicPr>
          <p:cNvPr id="7" name="Image 0" descr="/mnt/data/ppt_extract/auto/ppt/media/image-1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33888" y="238571"/>
            <a:ext cx="1143000" cy="6201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384280" y="6473952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85800" y="969264"/>
            <a:ext cx="1078992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78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Both decks point to the same management model: prove automation correctness and separately classify environment interruptions.</a:t>
            </a:r>
            <a:endParaRPr lang="en-US" sz="1780" dirty="0"/>
          </a:p>
        </p:txBody>
      </p:sp>
      <p:sp>
        <p:nvSpPr>
          <p:cNvPr id="10" name="Text 7"/>
          <p:cNvSpPr/>
          <p:nvPr/>
        </p:nvSpPr>
        <p:spPr>
          <a:xfrm>
            <a:off x="777240" y="1664208"/>
            <a:ext cx="3401568" cy="292608"/>
          </a:xfrm>
          <a:prstGeom prst="rect">
            <a:avLst/>
          </a:prstGeom>
          <a:solidFill>
            <a:srgbClr val="003B82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Automation correctness KPI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77240" y="1975104"/>
            <a:ext cx="3401568" cy="2542032"/>
          </a:xfrm>
          <a:prstGeom prst="rect">
            <a:avLst/>
          </a:prstGeom>
          <a:solidFill>
            <a:srgbClr val="FFFFFF"/>
          </a:solidFill>
          <a:ln>
            <a:solidFill>
              <a:srgbClr val="D9E2EF">
                <a:alpha val="90000"/>
              </a:srgbClr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that the Playwright Java path is correct: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HOME reaches THANK YOU.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AUTO reaches PURCHASE_SUCCESS.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No Selenium/WebDriver in scoped paths.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State-aware synchronization and diagnostics are present.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389120" y="1664208"/>
            <a:ext cx="3401568" cy="292608"/>
          </a:xfrm>
          <a:prstGeom prst="rect">
            <a:avLst/>
          </a:prstGeom>
          <a:solidFill>
            <a:srgbClr val="E31837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Environment interruption KPI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389120" y="1975104"/>
            <a:ext cx="3401568" cy="2542032"/>
          </a:xfrm>
          <a:prstGeom prst="rect">
            <a:avLst/>
          </a:prstGeom>
          <a:solidFill>
            <a:srgbClr val="FFFFFF"/>
          </a:solidFill>
          <a:ln>
            <a:solidFill>
              <a:srgbClr val="D9E2EF">
                <a:alpha val="90000"/>
              </a:srgbClr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that the environment affects flow reliability: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Inconvenience / KnockOut occurrence.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Recovery triggers.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Recovery success.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Backend/service/session correlation.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001000" y="1664208"/>
            <a:ext cx="3401568" cy="292608"/>
          </a:xfrm>
          <a:prstGeom prst="rect">
            <a:avLst/>
          </a:prstGeom>
          <a:solidFill>
            <a:srgbClr val="1B7F45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Regression-readiness gate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8001000" y="1975104"/>
            <a:ext cx="3401568" cy="2542032"/>
          </a:xfrm>
          <a:prstGeom prst="rect">
            <a:avLst/>
          </a:prstGeom>
          <a:solidFill>
            <a:srgbClr val="FFFFFF"/>
          </a:solidFill>
          <a:ln>
            <a:solidFill>
              <a:srgbClr val="D9E2EF">
                <a:alpha val="90000"/>
              </a:srgbClr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trustworthy PASS / FAIL signal requires both dimensions: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Frozen commit.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Same UAT configuration.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Consecutive controlled executions.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Telemetry that separates environment events from automation defects.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051560" y="5074920"/>
            <a:ext cx="1005840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E318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Dual KPIs: automation correctness + environment interruptions.</a:t>
            </a:r>
            <a:endParaRPr lang="en-US" sz="2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3B82"/>
          </a:solidFill>
          <a:ln w="12700">
            <a:solidFill>
              <a:srgbClr val="003B8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02552"/>
            <a:ext cx="12191695" cy="155448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93776" y="201168"/>
            <a:ext cx="7086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A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Farmers Insurance | Selenium → Playwright Java | Integrated Executive Update | August 2026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93776" y="457200"/>
            <a:ext cx="864108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350" b="1" dirty="0">
                <a:solidFill>
                  <a:srgbClr val="003B8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Executive Recommendation &amp; Next Actions</a:t>
            </a:r>
            <a:endParaRPr lang="en-US" sz="2350" dirty="0"/>
          </a:p>
        </p:txBody>
      </p:sp>
      <p:sp>
        <p:nvSpPr>
          <p:cNvPr id="6" name="Text 4"/>
          <p:cNvSpPr/>
          <p:nvPr/>
        </p:nvSpPr>
        <p:spPr>
          <a:xfrm>
            <a:off x="9464040" y="493776"/>
            <a:ext cx="786384" cy="246888"/>
          </a:xfrm>
          <a:prstGeom prst="rect">
            <a:avLst/>
          </a:prstGeom>
          <a:solidFill>
            <a:srgbClr val="B5122A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</a:t>
            </a:r>
            <a:endParaRPr lang="en-US" sz="950" dirty="0"/>
          </a:p>
        </p:txBody>
      </p:sp>
      <p:pic>
        <p:nvPicPr>
          <p:cNvPr id="7" name="Image 0" descr="/mnt/data/ppt_extract/auto/ppt/media/image-1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33888" y="238571"/>
            <a:ext cx="1143000" cy="6201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384280" y="6473952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85800" y="969264"/>
            <a:ext cx="1078992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73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 from successful migration to a measurable regression-readiness baseline.</a:t>
            </a:r>
            <a:endParaRPr lang="en-US" sz="1730" dirty="0"/>
          </a:p>
        </p:txBody>
      </p:sp>
      <p:sp>
        <p:nvSpPr>
          <p:cNvPr id="10" name="Text 7"/>
          <p:cNvSpPr/>
          <p:nvPr/>
        </p:nvSpPr>
        <p:spPr>
          <a:xfrm>
            <a:off x="822960" y="1600200"/>
            <a:ext cx="3246120" cy="292608"/>
          </a:xfrm>
          <a:prstGeom prst="rect">
            <a:avLst/>
          </a:prstGeom>
          <a:solidFill>
            <a:srgbClr val="003B82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 — Freeze the baseline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22960" y="1911096"/>
            <a:ext cx="3246120" cy="832104"/>
          </a:xfrm>
          <a:prstGeom prst="rect">
            <a:avLst/>
          </a:prstGeom>
          <a:solidFill>
            <a:srgbClr val="FFFFFF"/>
          </a:solidFill>
          <a:ln>
            <a:solidFill>
              <a:srgbClr val="D9E2EF">
                <a:alpha val="90000"/>
              </a:srgbClr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58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AUTO: Use one commit and one UAT configuration for controlled runs.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HOME: Run the baseline on one frozen commit and the same UAT configuration.</a:t>
            </a:r>
            <a:endParaRPr lang="en-US" sz="1580" dirty="0"/>
          </a:p>
        </p:txBody>
      </p:sp>
      <p:sp>
        <p:nvSpPr>
          <p:cNvPr id="12" name="Text 9"/>
          <p:cNvSpPr/>
          <p:nvPr/>
        </p:nvSpPr>
        <p:spPr>
          <a:xfrm>
            <a:off x="4480560" y="1600200"/>
            <a:ext cx="3246120" cy="292608"/>
          </a:xfrm>
          <a:prstGeom prst="rect">
            <a:avLst/>
          </a:prstGeom>
          <a:solidFill>
            <a:srgbClr val="E31837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 — Run evidence campaign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480560" y="1911096"/>
            <a:ext cx="3246120" cy="832104"/>
          </a:xfrm>
          <a:prstGeom prst="rect">
            <a:avLst/>
          </a:prstGeom>
          <a:solidFill>
            <a:srgbClr val="FFFFFF"/>
          </a:solidFill>
          <a:ln>
            <a:solidFill>
              <a:srgbClr val="D9E2EF">
                <a:alpha val="90000"/>
              </a:srgbClr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58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AUTO: Capture 20 consecutive executions for deterministic stability.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HOME: Run 30–50 consecutive executions on one frozen commit and the same UAT configuration.</a:t>
            </a:r>
            <a:endParaRPr lang="en-US" sz="1580" dirty="0"/>
          </a:p>
        </p:txBody>
      </p:sp>
      <p:sp>
        <p:nvSpPr>
          <p:cNvPr id="14" name="Text 11"/>
          <p:cNvSpPr/>
          <p:nvPr/>
        </p:nvSpPr>
        <p:spPr>
          <a:xfrm>
            <a:off x="8138160" y="1600200"/>
            <a:ext cx="3246120" cy="292608"/>
          </a:xfrm>
          <a:prstGeom prst="rect">
            <a:avLst/>
          </a:prstGeom>
          <a:solidFill>
            <a:srgbClr val="003B82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 — Expand carefully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8138160" y="1911096"/>
            <a:ext cx="3246120" cy="832104"/>
          </a:xfrm>
          <a:prstGeom prst="rect">
            <a:avLst/>
          </a:prstGeom>
          <a:solidFill>
            <a:srgbClr val="FFFFFF"/>
          </a:solidFill>
          <a:ln>
            <a:solidFill>
              <a:srgbClr val="D9E2EF">
                <a:alpha val="90000"/>
              </a:srgbClr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AUTO: Add deterministic applicants before full DataProvider scale-up.</a:t>
            </a:r>
            <a:endParaRPr lang="en-US" sz="1520" dirty="0"/>
          </a:p>
          <a:p>
            <a:pPr indent="0" marL="0">
              <a:buNone/>
            </a:pPr>
            <a:r>
              <a:rPr lang="en-US" sz="152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 readiness: expand to 2–3 additional deterministic applicants before reintroducing broader data-provider variability.</a:t>
            </a:r>
            <a:endParaRPr lang="en-US" sz="1520" dirty="0"/>
          </a:p>
        </p:txBody>
      </p:sp>
      <p:sp>
        <p:nvSpPr>
          <p:cNvPr id="16" name="Text 13"/>
          <p:cNvSpPr/>
          <p:nvPr/>
        </p:nvSpPr>
        <p:spPr>
          <a:xfrm>
            <a:off x="960120" y="3401568"/>
            <a:ext cx="10287000" cy="292608"/>
          </a:xfrm>
          <a:prstGeom prst="rect">
            <a:avLst/>
          </a:prstGeom>
          <a:solidFill>
            <a:srgbClr val="E31837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Management proof point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960120" y="3712464"/>
            <a:ext cx="10287000" cy="694944"/>
          </a:xfrm>
          <a:prstGeom prst="rect">
            <a:avLst/>
          </a:prstGeom>
          <a:solidFill>
            <a:srgbClr val="FFFFFF"/>
          </a:solidFill>
          <a:ln>
            <a:solidFill>
              <a:srgbClr val="D9E2EF">
                <a:alpha val="90000"/>
              </a:srgbClr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68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defensible stability baseline cannot be inferred from iterative development runs or one XML pass. It must come from consecutive controlled executions using frozen code and the same environment configuration.</a:t>
            </a:r>
            <a:endParaRPr lang="en-US" sz="1680" dirty="0"/>
          </a:p>
        </p:txBody>
      </p:sp>
      <p:sp>
        <p:nvSpPr>
          <p:cNvPr id="18" name="Text 15"/>
          <p:cNvSpPr/>
          <p:nvPr/>
        </p:nvSpPr>
        <p:spPr>
          <a:xfrm>
            <a:off x="987552" y="4956048"/>
            <a:ext cx="101955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76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Recommended sequence: freeze → execute controlled runs → classify recovered interruptions → expand deterministic coverage → scale regression.</a:t>
            </a:r>
            <a:endParaRPr lang="en-US" sz="176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3B82"/>
          </a:solidFill>
          <a:ln w="12700">
            <a:solidFill>
              <a:srgbClr val="003B8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02552"/>
            <a:ext cx="12191695" cy="155448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93776" y="201168"/>
            <a:ext cx="7086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A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Farmers Insurance | Selenium → Playwright Java | Integrated Executive Update | August 2026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93776" y="457200"/>
            <a:ext cx="864108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350" b="1" dirty="0">
                <a:solidFill>
                  <a:srgbClr val="003B8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Telemetry, Root Cause &amp; Release Gates</a:t>
            </a:r>
            <a:endParaRPr lang="en-US" sz="2350" dirty="0"/>
          </a:p>
        </p:txBody>
      </p:sp>
      <p:sp>
        <p:nvSpPr>
          <p:cNvPr id="6" name="Text 4"/>
          <p:cNvSpPr/>
          <p:nvPr/>
        </p:nvSpPr>
        <p:spPr>
          <a:xfrm>
            <a:off x="9464040" y="493776"/>
            <a:ext cx="786384" cy="246888"/>
          </a:xfrm>
          <a:prstGeom prst="rect">
            <a:avLst/>
          </a:prstGeom>
          <a:solidFill>
            <a:srgbClr val="B5122A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</a:t>
            </a:r>
            <a:endParaRPr lang="en-US" sz="950" dirty="0"/>
          </a:p>
        </p:txBody>
      </p:sp>
      <p:pic>
        <p:nvPicPr>
          <p:cNvPr id="7" name="Image 0" descr="/mnt/data/ppt_extract/auto/ppt/media/image-1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33888" y="238571"/>
            <a:ext cx="1143000" cy="6201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384280" y="6473952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85800" y="969264"/>
            <a:ext cx="1078992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Separate app/environment signals from automation defects before scaling the regression suite.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49808" y="1554480"/>
            <a:ext cx="3246120" cy="292608"/>
          </a:xfrm>
          <a:prstGeom prst="rect">
            <a:avLst/>
          </a:prstGeom>
          <a:solidFill>
            <a:srgbClr val="003B82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Separate telemetry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49808" y="1865376"/>
            <a:ext cx="3246120" cy="1152144"/>
          </a:xfrm>
          <a:prstGeom prst="rect">
            <a:avLst/>
          </a:prstGeom>
          <a:solidFill>
            <a:srgbClr val="FFFFFF"/>
          </a:solidFill>
          <a:ln>
            <a:solidFill>
              <a:srgbClr val="D9E2EF">
                <a:alpha val="90000"/>
              </a:srgbClr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53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AUTO: Track recovery events apart from automation defects.</a:t>
            </a:r>
            <a:endParaRPr lang="en-US" sz="1530" dirty="0"/>
          </a:p>
          <a:p>
            <a:pPr indent="0" marL="0">
              <a:buNone/>
            </a:pPr>
            <a:r>
              <a:rPr lang="en-US" sz="153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HOME: Track Inconvenience/KnockOut occurrence, recovery triggers and recovery success independently from automation defects.</a:t>
            </a:r>
            <a:endParaRPr lang="en-US" sz="1530" dirty="0"/>
          </a:p>
        </p:txBody>
      </p:sp>
      <p:sp>
        <p:nvSpPr>
          <p:cNvPr id="12" name="Text 9"/>
          <p:cNvSpPr/>
          <p:nvPr/>
        </p:nvSpPr>
        <p:spPr>
          <a:xfrm>
            <a:off x="4233672" y="1554480"/>
            <a:ext cx="3246120" cy="292608"/>
          </a:xfrm>
          <a:prstGeom prst="rect">
            <a:avLst/>
          </a:prstGeom>
          <a:solidFill>
            <a:srgbClr val="E31837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Correlate backend signals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233672" y="1865376"/>
            <a:ext cx="3246120" cy="1152144"/>
          </a:xfrm>
          <a:prstGeom prst="rect">
            <a:avLst/>
          </a:prstGeom>
          <a:solidFill>
            <a:srgbClr val="FFFFFF"/>
          </a:solidFill>
          <a:ln>
            <a:solidFill>
              <a:srgbClr val="D9E2EF">
                <a:alpha val="90000"/>
              </a:srgbClr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HOME: Match interruption timestamps to service/session/backend logs to identify root-cause ownership.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7717536" y="1554480"/>
            <a:ext cx="3246120" cy="292608"/>
          </a:xfrm>
          <a:prstGeom prst="rect">
            <a:avLst/>
          </a:prstGeom>
          <a:solidFill>
            <a:srgbClr val="003B82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Keep defensive recovery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7717536" y="1865376"/>
            <a:ext cx="3246120" cy="1152144"/>
          </a:xfrm>
          <a:prstGeom prst="rect">
            <a:avLst/>
          </a:prstGeom>
          <a:solidFill>
            <a:srgbClr val="FFFFFF"/>
          </a:solidFill>
          <a:ln>
            <a:solidFill>
              <a:srgbClr val="D9E2EF">
                <a:alpha val="90000"/>
              </a:srgbClr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HOME: Retain state-aware recovery to reduce false negatives, but classify recovered interruptions as environment-quality signals.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749808" y="3730752"/>
            <a:ext cx="4983480" cy="292608"/>
          </a:xfrm>
          <a:prstGeom prst="rect">
            <a:avLst/>
          </a:prstGeom>
          <a:solidFill>
            <a:srgbClr val="E31837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Define release gates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749808" y="4041648"/>
            <a:ext cx="4983480" cy="1170432"/>
          </a:xfrm>
          <a:prstGeom prst="rect">
            <a:avLst/>
          </a:prstGeom>
          <a:solidFill>
            <a:srgbClr val="FFFFFF"/>
          </a:solidFill>
          <a:ln>
            <a:solidFill>
              <a:srgbClr val="D9E2EF">
                <a:alpha val="90000"/>
              </a:srgbClr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AUTO: Use dual KPIs: automation correctness + environment interruptions.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HOME: Use dual KPIs: automation correctness + environment interruption thresholds before scaling the regression suite.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5989320" y="3730752"/>
            <a:ext cx="4983480" cy="292608"/>
          </a:xfrm>
          <a:prstGeom prst="rect">
            <a:avLst/>
          </a:prstGeom>
          <a:solidFill>
            <a:srgbClr val="003B82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Scale-up discipline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5989320" y="4041648"/>
            <a:ext cx="4983480" cy="1170432"/>
          </a:xfrm>
          <a:prstGeom prst="rect">
            <a:avLst/>
          </a:prstGeom>
          <a:solidFill>
            <a:srgbClr val="FFFFFF"/>
          </a:solidFill>
          <a:ln>
            <a:solidFill>
              <a:srgbClr val="D9E2EF">
                <a:alpha val="90000"/>
              </a:srgbClr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Separate telemetry and release gates prevent unstable UAT conditions from being misread as Playwright migration defects while preserving the true PASS / FAIL signal for regression decisions.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3B82"/>
          </a:solidFill>
          <a:ln w="12700">
            <a:solidFill>
              <a:srgbClr val="003B8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02552"/>
            <a:ext cx="12191695" cy="155448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93776" y="201168"/>
            <a:ext cx="7086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A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Farmers Insurance | Selenium → Playwright Java | Integrated Executive Update | August 2026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93776" y="457200"/>
            <a:ext cx="864108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350" b="1" dirty="0">
                <a:solidFill>
                  <a:srgbClr val="003B8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Bottom Line</a:t>
            </a:r>
            <a:endParaRPr lang="en-US" sz="2350" dirty="0"/>
          </a:p>
        </p:txBody>
      </p:sp>
      <p:sp>
        <p:nvSpPr>
          <p:cNvPr id="6" name="Text 4"/>
          <p:cNvSpPr/>
          <p:nvPr/>
        </p:nvSpPr>
        <p:spPr>
          <a:xfrm>
            <a:off x="9464040" y="493776"/>
            <a:ext cx="786384" cy="246888"/>
          </a:xfrm>
          <a:prstGeom prst="rect">
            <a:avLst/>
          </a:prstGeom>
          <a:solidFill>
            <a:srgbClr val="B5122A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</a:t>
            </a:r>
            <a:endParaRPr lang="en-US" sz="950" dirty="0"/>
          </a:p>
        </p:txBody>
      </p:sp>
      <p:pic>
        <p:nvPicPr>
          <p:cNvPr id="7" name="Image 0" descr="/mnt/data/ppt_extract/auto/ppt/media/image-1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33888" y="238571"/>
            <a:ext cx="1143000" cy="6201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384280" y="6473952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58368" y="969264"/>
            <a:ext cx="108813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integrated executive message is consistent across HOME and AUTO: the E2E paths are functionally migrated; readiness now depends on controlled repeatability plus environment-risk classification.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41248" y="1783080"/>
            <a:ext cx="5166360" cy="292608"/>
          </a:xfrm>
          <a:prstGeom prst="rect">
            <a:avLst/>
          </a:prstGeom>
          <a:solidFill>
            <a:srgbClr val="E31837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HOME bottom line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41248" y="2093976"/>
            <a:ext cx="5166360" cy="923544"/>
          </a:xfrm>
          <a:prstGeom prst="rect">
            <a:avLst/>
          </a:prstGeom>
          <a:solidFill>
            <a:srgbClr val="FFFFFF"/>
          </a:solidFill>
          <a:ln>
            <a:solidFill>
              <a:srgbClr val="D9E2EF">
                <a:alpha val="90000"/>
              </a:srgbClr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HOME Happy Path is functionally migrated and E2E-capable; regression confidence now depends on stabilizing both automation and the UAT environment.</a:t>
            </a:r>
            <a:endParaRPr lang="en-US" sz="1720" dirty="0"/>
          </a:p>
        </p:txBody>
      </p:sp>
      <p:sp>
        <p:nvSpPr>
          <p:cNvPr id="12" name="Text 9"/>
          <p:cNvSpPr/>
          <p:nvPr/>
        </p:nvSpPr>
        <p:spPr>
          <a:xfrm>
            <a:off x="6199632" y="1783080"/>
            <a:ext cx="5166360" cy="292608"/>
          </a:xfrm>
          <a:prstGeom prst="rect">
            <a:avLst/>
          </a:prstGeom>
          <a:solidFill>
            <a:srgbClr val="003B82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AUTO bottom line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199632" y="2093976"/>
            <a:ext cx="5166360" cy="923544"/>
          </a:xfrm>
          <a:prstGeom prst="rect">
            <a:avLst/>
          </a:prstGeom>
          <a:solidFill>
            <a:srgbClr val="FFFFFF"/>
          </a:solidFill>
          <a:ln>
            <a:solidFill>
              <a:srgbClr val="D9E2EF">
                <a:alpha val="90000"/>
              </a:srgbClr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BristolWest E2E is proven through one verified end-to-end PASS. The next management milestone is repeatability evidence and environment-risk classification before scaling the Auto regression suite.</a:t>
            </a:r>
            <a:endParaRPr lang="en-US" sz="1720" dirty="0"/>
          </a:p>
        </p:txBody>
      </p:sp>
      <p:sp>
        <p:nvSpPr>
          <p:cNvPr id="14" name="Text 11"/>
          <p:cNvSpPr/>
          <p:nvPr/>
        </p:nvSpPr>
        <p:spPr>
          <a:xfrm>
            <a:off x="841248" y="3657600"/>
            <a:ext cx="10524744" cy="292608"/>
          </a:xfrm>
          <a:prstGeom prst="rect">
            <a:avLst/>
          </a:prstGeom>
          <a:solidFill>
            <a:srgbClr val="003B82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Executive interpretation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841248" y="3968496"/>
            <a:ext cx="10524744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E2EF">
                <a:alpha val="90000"/>
              </a:srgbClr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 and AUTO should be managed as one Playwright Java migration program with shared standards, shared evidence rules and shared gates, while keeping product-specific telemetry separate.</a:t>
            </a:r>
            <a:endParaRPr lang="en-US" sz="1750" dirty="0"/>
          </a:p>
        </p:txBody>
      </p:sp>
      <p:sp>
        <p:nvSpPr>
          <p:cNvPr id="16" name="Text 13"/>
          <p:cNvSpPr/>
          <p:nvPr/>
        </p:nvSpPr>
        <p:spPr>
          <a:xfrm>
            <a:off x="841248" y="5175504"/>
            <a:ext cx="10524744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E318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milestone: controlled execution campaign + telemetry correlation + release gates.</a:t>
            </a:r>
            <a:endParaRPr lang="en-US" sz="2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Farmers Insurance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Farmers AUTO + HOME E2E Migration Integrated Executive Update</dc:title>
  <dc:subject>Farmers Insurance Selenium to Playwright Java integrated executive update</dc:subject>
  <dc:creator>OpenAI</dc:creator>
  <cp:lastModifiedBy>OpenAI</cp:lastModifiedBy>
  <cp:revision>1</cp:revision>
  <dcterms:created xsi:type="dcterms:W3CDTF">2026-08-17T15:52:25Z</dcterms:created>
  <dcterms:modified xsi:type="dcterms:W3CDTF">2026-08-17T15:52:25Z</dcterms:modified>
</cp:coreProperties>
</file>