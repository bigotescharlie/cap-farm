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Farmers Insurance | Selenium → Playwright Java | Executive Update |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5097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0A3778"/>
                </a:solidFill>
                <a:latin typeface="Aptos"/>
              </a:rPr>
              <a:t>Migration Process &amp; E2E Achievement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893808" y="347472"/>
            <a:ext cx="822960" cy="25603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3703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MIGRATION</a:t>
            </a:r>
          </a:p>
        </p:txBody>
      </p:sp>
      <p:pic>
        <p:nvPicPr>
          <p:cNvPr id="7" name="Picture 6" descr="farme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80"/>
            <a:ext cx="960120" cy="520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58600" y="6419088"/>
            <a:ext cx="228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Not a syntax conversion — a modernization of the execution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1664208"/>
            <a:ext cx="384048" cy="384048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Legacy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Selenium E2E, dependencies,</a:t>
            </a:r>
            <a:br/>
            <a:r>
              <a:t>test data &amp; validations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2331720"/>
            <a:ext cx="128016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CD2330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32888" y="1664208"/>
            <a:ext cx="384048" cy="384048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288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Flow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HOME → THANK YOU</a:t>
            </a:r>
            <a:br/>
            <a:r>
              <a:t>AUTO → PURCHASE_SUCCESS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2331720"/>
            <a:ext cx="128016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CD2330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1664208"/>
            <a:ext cx="384048" cy="384048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Playwright 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Native navigation, locators,</a:t>
            </a:r>
            <a:br/>
            <a:r>
              <a:t>interactions &amp; synchronization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331720"/>
            <a:ext cx="128016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CD2330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3368" y="1664208"/>
            <a:ext cx="384048" cy="384048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State Awareness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Detect actual rendered state;</a:t>
            </a:r>
            <a:br/>
            <a:r>
              <a:t>Copy-DOM + screenshots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331720"/>
            <a:ext cx="128016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CD2330"/>
                </a:solidFill>
                <a:latin typeface="Aptos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93608" y="1664208"/>
            <a:ext cx="384048" cy="384048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Inconvenience / Knockout</a:t>
            </a:r>
            <a:br/>
            <a:r>
              <a:t>Try Again → resume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4392" y="2331720"/>
            <a:ext cx="128016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CD2330"/>
                </a:solidFill>
                <a:latin typeface="Aptos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1508760"/>
            <a:ext cx="1810512" cy="233172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13848" y="1664208"/>
            <a:ext cx="384048" cy="384048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3848" y="1719072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13848" y="2176272"/>
            <a:ext cx="1591056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A3778"/>
                </a:solidFill>
                <a:latin typeface="Aptos"/>
              </a:rPr>
              <a:t>Stabilization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2651760"/>
            <a:ext cx="1591056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32A34"/>
                </a:solidFill>
                <a:latin typeface="Aptos"/>
              </a:rPr>
              <a:t>Execute → diagnose → refine</a:t>
            </a:r>
            <a:br/>
            <a:r>
              <a:t>→ controlled readiness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16052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370832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A3778"/>
                </a:solidFill>
                <a:latin typeface="Aptos"/>
              </a:rPr>
              <a:t>HOME E2E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315968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348745"/>
                </a:solidFill>
                <a:latin typeface="Aptos"/>
              </a:rPr>
              <a:t>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736592"/>
            <a:ext cx="44805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232A34"/>
                </a:solidFill>
                <a:latin typeface="Aptos"/>
              </a:rPr>
              <a:t>100% Playwright Java path</a:t>
            </a:r>
            <a:br/>
            <a:r>
              <a:t>Terminal state: THANK YOU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45352" y="416052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4370832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A3778"/>
                </a:solidFill>
                <a:latin typeface="Aptos"/>
              </a:rPr>
              <a:t>AUTO E2E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0112" y="4315968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348745"/>
                </a:solidFill>
                <a:latin typeface="Aptos"/>
              </a:rPr>
              <a:t>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4736592"/>
            <a:ext cx="44805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232A34"/>
                </a:solidFill>
                <a:latin typeface="Aptos"/>
              </a:rPr>
              <a:t>100% Playwright Java path</a:t>
            </a:r>
            <a:br/>
            <a:r>
              <a:t>Terminal state: PURCHASE_SUCCESS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7959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CD2330"/>
                </a:solidFill>
                <a:latin typeface="Aptos"/>
              </a:rPr>
              <a:t>Outcome: working E2E business journeys with diagnostics, recovery and measurable regression-readiness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Farmers Insurance | Selenium → Playwright Java | Executive Update |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5097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0A3778"/>
                </a:solidFill>
                <a:latin typeface="Aptos"/>
              </a:rPr>
              <a:t>Selenium vs Playwright — Methods &amp; Execution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893808" y="347472"/>
            <a:ext cx="822960" cy="25603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3703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COMPARISON</a:t>
            </a:r>
          </a:p>
        </p:txBody>
      </p:sp>
      <p:pic>
        <p:nvPicPr>
          <p:cNvPr id="7" name="Picture 6" descr="farme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80"/>
            <a:ext cx="960120" cy="520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58600" y="6419088"/>
            <a:ext cx="228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The key difference is not syntax — it is execution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389888"/>
            <a:ext cx="2468880" cy="34747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444752"/>
            <a:ext cx="232257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389888"/>
            <a:ext cx="2423160" cy="34747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444752"/>
            <a:ext cx="227685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Selenium / WebDriver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389888"/>
            <a:ext cx="2423160" cy="34747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1444752"/>
            <a:ext cx="227685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Playwright Java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389888"/>
            <a:ext cx="3611880" cy="34747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444752"/>
            <a:ext cx="346557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Modernization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755648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1828800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1755648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1828800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driver.get()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755648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1828800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page.navigate()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755648"/>
            <a:ext cx="3611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1828800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Browser/page-native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148840"/>
            <a:ext cx="2468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221992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Locators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2148840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2221992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findElement(By...)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148840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2221992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getByRole()/getByLabel()/locator()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148840"/>
            <a:ext cx="3611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2221992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Semantic + resilient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2542032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615184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Input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542032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615184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sendKeys()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542032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9552" y="2615184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fill()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542032"/>
            <a:ext cx="3611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82712" y="2615184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Actionability-aware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935224"/>
            <a:ext cx="2468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3008376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Synchronization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2935224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36392" y="3008376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WebDriverWait / sleep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935224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9552" y="3008376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locator.waitFor()/load state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935224"/>
            <a:ext cx="3611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2712" y="3008376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State/event-based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3328416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340156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Frames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3328416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3401568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switchTo().frame()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328416"/>
            <a:ext cx="24231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9552" y="3401568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frameLocator()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3328416"/>
            <a:ext cx="3611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82712" y="3401568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Direct frame targeting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3721608"/>
            <a:ext cx="2468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3794760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Diagnostics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721608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6392" y="3794760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page source + screenshot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3721608"/>
            <a:ext cx="242316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9552" y="3794760"/>
            <a:ext cx="227685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page.content() + screenshot + Copy-DOM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60" y="3721608"/>
            <a:ext cx="3611880" cy="393192"/>
          </a:xfrm>
          <a:prstGeom prst="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82712" y="3794760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ptos"/>
              </a:rPr>
              <a:t>State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31596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A3778"/>
                </a:solidFill>
                <a:latin typeface="Aptos"/>
              </a:rPr>
              <a:t>Measured E2E Runtime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4663440"/>
            <a:ext cx="534924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4846320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A3778"/>
                </a:solidFill>
                <a:latin typeface="Aptos"/>
              </a:rPr>
              <a:t>AUTO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1640" y="479145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32A34"/>
                </a:solidFill>
                <a:latin typeface="Aptos"/>
              </a:rPr>
              <a:t>Selenium  17:00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6120" y="4782312"/>
            <a:ext cx="3200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2330"/>
                </a:solidFill>
                <a:latin typeface="Aptos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39312" y="4791456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48745"/>
                </a:solidFill>
                <a:latin typeface="Aptos"/>
              </a:rPr>
              <a:t>Playwright  10:00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91640" y="5230368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CD2330"/>
                </a:solidFill>
                <a:latin typeface="Aptos"/>
              </a:rPr>
              <a:t>~41% less execution time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36208" y="4663440"/>
            <a:ext cx="5285232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46520" y="4846320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A3778"/>
                </a:solidFill>
                <a:latin typeface="Aptos"/>
              </a:rPr>
              <a:t>HOME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69480" y="4791456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32A34"/>
                </a:solidFill>
                <a:latin typeface="Aptos"/>
              </a:rPr>
              <a:t>Selenium  7:00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05088" y="4782312"/>
            <a:ext cx="3200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2330"/>
                </a:solidFill>
                <a:latin typeface="Aptos"/>
              </a:rP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4791456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48745"/>
                </a:solidFill>
                <a:latin typeface="Aptos"/>
              </a:rPr>
              <a:t>Playwright  1:30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5230368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CD2330"/>
                </a:solidFill>
                <a:latin typeface="Aptos"/>
              </a:rPr>
              <a:t>~79% less execution time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6053328"/>
            <a:ext cx="108356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A3778"/>
                </a:solidFill>
                <a:latin typeface="Aptos"/>
              </a:rPr>
              <a:t>Combined: 24:00 Selenium → 11:30 Playwright | ~52% reduction across these two measured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Farmers Insurance | Selenium → Playwright Java | Executive Update |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5097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0A3778"/>
                </a:solidFill>
                <a:latin typeface="Aptos"/>
              </a:rPr>
              <a:t>Stoppers, Blockers &amp; Recovery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893808" y="347472"/>
            <a:ext cx="822960" cy="25603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3703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RESILIENCE</a:t>
            </a:r>
          </a:p>
        </p:txBody>
      </p:sp>
      <p:pic>
        <p:nvPicPr>
          <p:cNvPr id="7" name="Picture 6" descr="farme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80"/>
            <a:ext cx="960120" cy="520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58600" y="6419088"/>
            <a:ext cx="228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Unexpected application states must be classified separately from automation defects.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3246120" cy="3063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508760"/>
            <a:ext cx="3246120" cy="43891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618488"/>
            <a:ext cx="30175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INCONVENIENCE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2907792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Unexpected route interrupts the expected quote progression.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Expected destination may never appear, causing a false timeout.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Observed in HOME evidence and during AUTO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508760"/>
            <a:ext cx="3246120" cy="3063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508760"/>
            <a:ext cx="3246120" cy="43891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618488"/>
            <a:ext cx="30175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KNOCKOUT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148840"/>
            <a:ext cx="2907792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Business/application state — not automatically a locator defect.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Detection uses URL/body/state signals.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Supported by recovery design; root trigger still requires telemetry.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508760"/>
            <a:ext cx="3246120" cy="3063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1508760"/>
            <a:ext cx="3246120" cy="438912"/>
          </a:xfrm>
          <a:prstGeom prst="rect">
            <a:avLst/>
          </a:prstGeom>
          <a:solidFill>
            <a:srgbClr val="348745"/>
          </a:solidFill>
          <a:ln>
            <a:solidFill>
              <a:srgbClr val="348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7" y="1618488"/>
            <a:ext cx="30175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TRY AGAIN /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2148840"/>
            <a:ext cx="2907792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Detect interruption → capture evidence → Try Again → resume.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Recovered executions can still reach the terminal business state.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Recovery reduces false negatives; it does not hide the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A3778"/>
                </a:solidFill>
                <a:latin typeface="Aptos"/>
              </a:rPr>
              <a:t>State-aware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30952"/>
            <a:ext cx="1645920" cy="566928"/>
          </a:xfrm>
          <a:prstGeom prst="round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0468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Expected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16" y="5449824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5330952"/>
            <a:ext cx="1645920" cy="566928"/>
          </a:xfrm>
          <a:prstGeom prst="round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39" y="550468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Detect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449824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330952"/>
            <a:ext cx="1645920" cy="566928"/>
          </a:xfrm>
          <a:prstGeom prst="round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550468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Inconvenience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49824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330952"/>
            <a:ext cx="1645920" cy="566928"/>
          </a:xfrm>
          <a:prstGeom prst="roundRect">
            <a:avLst/>
          </a:prstGeom>
          <a:solidFill>
            <a:srgbClr val="348745"/>
          </a:solidFill>
          <a:ln>
            <a:solidFill>
              <a:srgbClr val="348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550468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Try Again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5449824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330952"/>
            <a:ext cx="1645920" cy="566928"/>
          </a:xfrm>
          <a:prstGeom prst="roundRect">
            <a:avLst/>
          </a:prstGeom>
          <a:solidFill>
            <a:srgbClr val="348745"/>
          </a:solidFill>
          <a:ln>
            <a:solidFill>
              <a:srgbClr val="348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550468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Resume E2E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53912"/>
            <a:ext cx="10744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CD2330"/>
                </a:solidFill>
                <a:latin typeface="Aptos"/>
              </a:rPr>
              <a:t>Recovery is a resilience mechanism — not a root-cause fix. Every interruption should remain visible as environment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Farmers Insurance | Selenium → Playwright Java | Executive Update |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5097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0A3778"/>
                </a:solidFill>
                <a:latin typeface="Aptos"/>
              </a:rPr>
              <a:t>Why Playwright — Strategic Improvements &amp;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9893808" y="347472"/>
            <a:ext cx="822960" cy="256032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3703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pic>
        <p:nvPicPr>
          <p:cNvPr id="7" name="Picture 6" descr="farme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80"/>
            <a:ext cx="960120" cy="520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58600" y="6419088"/>
            <a:ext cx="228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The migration improves speed, observability, resilience and confidence — not only browser automation syntax.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508760"/>
            <a:ext cx="109728" cy="1143000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91639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A3778"/>
                </a:solidFill>
                <a:latin typeface="Aptos"/>
              </a:rPr>
              <a:t>FASTER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29967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Measured execution-time reduction</a:t>
            </a:r>
            <a:br/>
            <a:r>
              <a:t>AUTO ~41% | HOME ~79%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50876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508760"/>
            <a:ext cx="109728" cy="1143000"/>
          </a:xfrm>
          <a:prstGeom prst="rect">
            <a:avLst/>
          </a:prstGeom>
          <a:solidFill>
            <a:srgbClr val="0A3778"/>
          </a:solidFill>
          <a:ln>
            <a:solidFill>
              <a:srgbClr val="0A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691639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A3778"/>
                </a:solidFill>
                <a:latin typeface="Aptos"/>
              </a:rPr>
              <a:t>SMARTER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029967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State-aware navigation and</a:t>
            </a:r>
            <a:br/>
            <a:r>
              <a:t>semantic locator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50876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508760"/>
            <a:ext cx="109728" cy="1143000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691639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D2330"/>
                </a:solidFill>
                <a:latin typeface="Aptos"/>
              </a:rPr>
              <a:t>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029967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Inconvenience / Knockout</a:t>
            </a:r>
            <a:br/>
            <a:r>
              <a:t>detection + controlled 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92608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2926080"/>
            <a:ext cx="109728" cy="1143000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0896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D2330"/>
                </a:solidFill>
                <a:latin typeface="Aptos"/>
              </a:rPr>
              <a:t>DIAGNOSTIC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47288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Copy-DOM + screenshots + URL</a:t>
            </a:r>
            <a:br/>
            <a:r>
              <a:t>and actual rendered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292608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6552" y="2926080"/>
            <a:ext cx="109728" cy="1143000"/>
          </a:xfrm>
          <a:prstGeom prst="rect">
            <a:avLst/>
          </a:prstGeom>
          <a:solidFill>
            <a:srgbClr val="348745"/>
          </a:solidFill>
          <a:ln>
            <a:solidFill>
              <a:srgbClr val="348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10896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48745"/>
                </a:solidFill>
                <a:latin typeface="Aptos"/>
              </a:rPr>
              <a:t>TRUSTWORTHY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447288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Separate automation defects</a:t>
            </a:r>
            <a:br/>
            <a:r>
              <a:t>from environment interruptions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38744" y="2926080"/>
            <a:ext cx="34290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2926080"/>
            <a:ext cx="109728" cy="1143000"/>
          </a:xfrm>
          <a:prstGeom prst="rect">
            <a:avLst/>
          </a:prstGeom>
          <a:solidFill>
            <a:srgbClr val="348745"/>
          </a:solidFill>
          <a:ln>
            <a:solidFill>
              <a:srgbClr val="348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10896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48745"/>
                </a:solidFill>
                <a:latin typeface="Aptos"/>
              </a:rPr>
              <a:t>SCALABLE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3447288"/>
            <a:ext cx="29260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32A34"/>
                </a:solidFill>
                <a:latin typeface="Aptos"/>
              </a:rPr>
              <a:t>Stronger foundation for broader</a:t>
            </a:r>
            <a:br/>
            <a:r>
              <a:t>regression and CI/CD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98848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A3778"/>
                </a:solidFill>
                <a:latin typeface="Aptos"/>
              </a:rPr>
              <a:t>Regression Readiness 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965192"/>
            <a:ext cx="19933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111496"/>
            <a:ext cx="329184" cy="32918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175504"/>
            <a:ext cx="329184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7864" y="5056632"/>
            <a:ext cx="1389888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232A34"/>
                </a:solidFill>
                <a:latin typeface="Aptos"/>
              </a:rPr>
              <a:t>Freeze commit + UAT configuration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965192"/>
            <a:ext cx="19933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17520" y="5111496"/>
            <a:ext cx="329184" cy="32918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175504"/>
            <a:ext cx="329184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8144" y="5056632"/>
            <a:ext cx="1389888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232A34"/>
                </a:solidFill>
                <a:latin typeface="Aptos"/>
              </a:rPr>
              <a:t>Run consecutive controlled executions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66360" y="4965192"/>
            <a:ext cx="19933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57800" y="5111496"/>
            <a:ext cx="329184" cy="32918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5175504"/>
            <a:ext cx="329184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424" y="5056632"/>
            <a:ext cx="1389888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232A34"/>
                </a:solidFill>
                <a:latin typeface="Aptos"/>
              </a:rPr>
              <a:t>Track recovery events separately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4965192"/>
            <a:ext cx="19933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98080" y="5111496"/>
            <a:ext cx="329184" cy="32918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175504"/>
            <a:ext cx="329184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8704" y="5056632"/>
            <a:ext cx="1389888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232A34"/>
                </a:solidFill>
                <a:latin typeface="Aptos"/>
              </a:rPr>
              <a:t>Correlate backend/service/session signals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6920" y="4965192"/>
            <a:ext cx="19933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38360" y="5111496"/>
            <a:ext cx="329184" cy="329184"/>
          </a:xfrm>
          <a:prstGeom prst="rect">
            <a:avLst/>
          </a:prstGeom>
          <a:solidFill>
            <a:srgbClr val="CD2330"/>
          </a:solidFill>
          <a:ln>
            <a:solidFill>
              <a:srgbClr val="CD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60" y="5175504"/>
            <a:ext cx="329184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58984" y="5056632"/>
            <a:ext cx="1389888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232A34"/>
                </a:solidFill>
                <a:latin typeface="Aptos"/>
              </a:rPr>
              <a:t>Scale additional deterministic scenarios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98932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CD2330"/>
                </a:solidFill>
                <a:latin typeface="Aptos"/>
              </a:rPr>
              <a:t>Selenium → Playwright is not only a technology migration — it upgrades how we execute, diagnose and trust regression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